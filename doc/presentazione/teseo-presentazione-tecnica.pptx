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1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a653687-92fa-9eae-b83b-d44a3ba32448}">
          <p14:sldIdLst>
            <p14:sldId id="256"/>
            <p14:sldId id="257"/>
          </p14:sldIdLst>
        </p14:section>
        <p14:section name="1 · Il problema e l'idea" id="{9339ad53-986d-6275-b382-5b66b013ab7c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2 · Come funziona" id="{a8ba47e5-59d5-f6ad-2e02-0460bcabaf7d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3 · Casi difficili e controllo" id="{d1d63349-a204-c122-4bc4-bd02e4fc1d4f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4 · Come si evolve" id="{2cd4a81e-aa23-66c8-6cf6-c2616fee307c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5 · Casi d'uso" id="{fc77950c-cf5e-e733-332d-5831715a2b8a}">
          <p14:sldIdLst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Chiusura" id="{d2e2db30-3499-c66e-9bc3-5680cd555167}">
          <p14:sldIdLst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6302B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6302B"/>
                </a:solidFill>
                <a:latin typeface="+mn-lt"/>
              </a:rPr>
              <a:t>Pagine giuste trovate (su 134)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Pagine giuste trovate su 134</c:v>
                </c:pt>
              </c:strCache>
            </c:strRef>
          </c:tx>
          <c:spPr>
            <a:solidFill>
              <a:srgbClr val="5E6E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63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6E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6E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6E6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E6E6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262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Versione di partenza</c:v>
                  </c:pt>
                  <c:pt idx="1">
                    <c:v>Finestra più larga</c:v>
                  </c:pt>
                  <c:pt idx="2">
                    <c:v>Grafo + testo insieme</c:v>
                  </c:pt>
                  <c:pt idx="3">
                    <c:v>PageRank</c:v>
                  </c:pt>
                  <c:pt idx="4">
                    <c:v>Ricerca a due giri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96</c:v>
                </c:pt>
                <c:pt idx="2">
                  <c:v>90</c:v>
                </c:pt>
                <c:pt idx="3">
                  <c:v>83</c:v>
                </c:pt>
                <c:pt idx="4">
                  <c:v>102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63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630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b"/>
        <c:majorGridlines>
          <c:spPr>
            <a:ln w="9525" cap="flat">
              <a:solidFill>
                <a:srgbClr val="D5E2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6302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Teseo nasce da un problema concreto: i passaggi di consegna dei progetti aziendali. Questa è la versione tecnica: spiega il concetto, come ho adattato il pattern da cui parte, come funziona nel dettaglio, come gestisce i casi difficili, come si sta evolvendo e dove si usa in azienda. Il disegno a destra è il filo di Arianna: un percorso tra documenti collegati.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parti. La guida scritta (doc/presentazione/guida-teseo.md) segue lo stesso ordine con più dettaglio.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problema da cui sono partito. La conoscenza tacita è la parte più critica: non è scritta da nessuna parte e se ne va con la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principio guida attraversa tutte le scelte tecniche: i file di testo sono l'autorità e i database si ricostruiscono; l'AI legge e cita, non inventa; nessuna scrittura delle note senza conferma.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Senza il filo l'assistente cerca alla cieca tra i file; con il grafo sa quali pagine sono collegate e 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pattern LLM Wiki di Andrej Karpathy: tre livelli e tre operazioni. È un'idea potente ma lascia all'AI quasi tutto. Nelle prossime due slide i limiti che ho trovato e cosa ho aggiunto.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riga è un limite reale incontrato usando il pattern su progetti veri, con la risposta che ho implementato.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Queste aggiunte trasformano un'idea personale in uno strumento adatto a un'azienda: misurabile, condiviso, controllato.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flusso principale. Documenti in raw/, pagine in wiki/, il grafo costruito automaticamente dalle pagine, l'aggancio automatico (hook) che prima di ogni risposta passa all'assistente le pagine utili, la risposta citata. Tutto locale.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distinzione tra autorità, dati ricostruibili e storia personale spiega la robustezza: se il grafo si rompe si rigenera; memoria e domande (memoria.sqlite, domande.sqlite) invece si salvano con backup_personal.py.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skill uguali per tutti gli assistenti (queste quattro più le lavorazioni). Ordine consigliato: ingest, lint, lacune. Il lint chiude da solo ciò che la wiki già sa; le lacune portano all'autore solo ciò che solo lui può dire.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L'ingest distilla, non trascrive. Il passo di sincronizzazione esiste solo nei vault condivisi. Il controllo è build_graph.py --check. Il piano è un'aggiunta recente che spiego tra due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vera del vault d'esempio. Le cinque proprietà fisse sono tipo, tags, fonti, aggiornato, aliases; ogni altra proprietà è una relazione e deve essere nel vocabolario. L'incertezza non si nasconde: si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piano si scrive in lavorazioni/_ingest/&lt;fonte&gt;-piano.md, si può correggere anche in Obsidian. piano.py controlla la coerenza col vault, non la verità dei fatti. Nei lavori in blocco senza supervisione il piano si salta.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grafo del vault d'esempio. La domanda nomina solo il rilascio, ma seguendo usa, richiede e referente si arriva al prerequisito (l'incident settimanale) e alla persona (Anna Rossi).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vocabolario sta in Wiki reference.md con i tipi di pagina ammessi per ogni relazione. build_graph.py --check segnala relazioni fuori vocabolario, tipi non ammessi, link non risolti e fonti non censite.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recall è deterministico: niente modelli né embedding. Lavora solo sul testo scritto dall'utente (non su quello incollato), pota i collegamenti ripetitivi e dichiara ciò che ha omesso. Il contesto aggiunto è di circa 600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eseguito davvero sul vault d'esempio del kit con recall.py. Insieme ai fatti arriva la domanda aperta sulla contraddizione del giorno di rilascio: l'assistente deve riportarla, non sceglierne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Lettura confermata: Read in Claude, view riuscita in Copilot, leggi.py con token di turno in Codex. Grep e glob non insegnano nulla. Non impara da comandi, conferme e modifiche. memoria.py --turni serve a capire perché una ricerca non ha funzionato.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segnali: i punti aperti di index.md, le righe marcate da verificare, sistemi e processi senza referente, le sintesi che il lint ha dovuto scartare. Le gestisce domande.py e la skill lacune.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calcolo dalle pagine comanda: se il segnale sparisce la domanda si chiude da sola, se riappare si riapre. Dopo tre rinvii (domande.py --rinvia) la domanda va decisa durante il lint.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chiamo pagine per entropia. Le domande vengono da sintesi.py (catene usa/richiede/referente, termini condivisi, referenti di più pagine, memoria); sintesi.py --verifica controlla avviso, copertura e fonti.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assistente ha i suoi file di istruzioni e di aggancio (hook), preparati dall'installatore dentro il vault; le skill sono le stesse. Con Claude il prefisso @opus evita il passaggio a Haiku.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Nessun errore blocca l'utente, ma nessun errore viene spacciato per una risposta affidabile: in quei casi la domanda non va mai al modello leggero.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fonti in raw/ sono immutabili. Le correzioni dell'autore entrano come [nota-utente] e prevalgono sulla fonte.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Codici di uscita: 0 procedi, 2 fermati, 3 offline. La ripresa si fa con teseo_git.py riprendi.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vicinato nel grafo decide se due modifiche sono collegate. Se un editor scrive durante l'applicazione, il conflitto è esplicito (recovery_conflict).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e dati sono repository separati. Prima: teseo_git.py pre. Dopo: teseo_git.py post. L'integrazione avviene in un'area isolata, mai direttamente nel vault; il push è preceduto da validazione e scansione dei segreti.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trailer Teseo-Skill (ingest, lint, lacune, manuale, dashboard) e Teseo-Agent (claude, codex, copilot, umano). correzioni.py legge questa storia.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Nessuno stash, reset o force push automatico; adozione locale solo in fast-forward; Git non interattivo e senza hook; allowlist dei percorsi e scansione dei segreti.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Documentate in doc/13 (apply automatico) e doc/15 (condivisione delle lavorazioni), con i criteri per riaprirle. Le lavorazioni si possono comunque condividere a mano con esporta e nuova --modelli.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Servizio Python locale con interfaccia nel browser, esposto solo su loopback, con sessione e protezione CSRF. Schermata reale della consultazione sul vault di 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1: il motore (grafo, recall, memoria, lacune, tre assistenti). Fase 2: lavoro di squadra, con contratti dati, dashboard e collaborazione Git controllata, verificata con CI su Linux, Windows e macOS e collaudi reali. Fase 3: integrazione ICM.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Interpretable Context Methodology (Van Clief, McDermott, 2026). Ho adottato la forma dei contratti e il ciclo «correggere la fonte»; non le cartelle di fase dentro la wiki, incompatibili con il grafo. contratti.py valida skill e fasi.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Misure con contratti.py --peso: circa 3.089 token invece di 4.410 per query e lacune, 839 per una query che non archivia. correzioni.py: almeno 3 correzioni della stessa categoria su almeno 2 pagine scritte da ingest o lint.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raccolta la fa lo script, non l'AI, con un'impronta SHA-256 per pagina. Il risultato entra nella wiki solo come nuova fonte in raw/ (comando promuovi), seguita da un ingest.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lavorazioni.py stato mostra la pipeline; verifica controlla link, fonti e segnaposto senza scrivere nulla. Il pannello Lavorazioni della dashboard mostra lo stesso stato in sola lettura.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 ECC sul retrieval: una variante per ipotesi, controlli obbligatori, verifica su due metà del banco, adozione solo con zero domande peggiorate. Lezione: il collo di bottiglia è il vocabolario delle persone, quindi le leve sono sinonimi e relazioni. CI su Linux, Windows e macOS (9 job).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dell'AI con le skill riscritte non si può testare automaticamente senza un client autenticato: è il prossimo controllo da fare.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caso d'uso per cui ho ideato Teseo. Rispetto a un documento di consegna tradizionale, è il vault a chiedere ciò che manca; e non si chiude con la consegna, continua a crescere.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vocabolario delle relazioni si adatta al dominio: causa per gli incidenti, referente per l'escalation, precede per le procedure.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la conformità contano l'immutabilità delle fonti, le citazioni puntuali e la storia attribuita delle modifiche.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nota in basso è importante per IT e privacy: Teseo è locale, ma il modello AI riceve i contenuti che legge secondo la configurazione del client scelto.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Comandi: python installa.py --prova (risultato atteso: tutto OK), poi python installa.py PERCORSO. Segnali di salute: build_graph.py --check senza problemi, domande aperte in calo, ricerca sulle domande di prova non in calo.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messaggi da portare via. La guida completa nel repository contiene tutti i diagrammi e i dettagli tecnici.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67665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DCEAE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Teseo · presentazione tecnica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63040"/>
            <a:ext cx="2743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88620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DCEAE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USUR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108813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Teseo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AE6"/>
                </a:solidFill>
              </a:rPr>
              <a:t>Trova la strada nel labirinto dei documenti aziendali.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DCEAE6"/>
                </a:solidFill>
              </a:rPr>
              <a:t>Presentazione tecnica: concetto, funzionamento, evoluzione e casi d'uso.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412480" y="1371600"/>
            <a:ext cx="1188720" cy="118872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601200" y="1097280"/>
            <a:ext cx="1188720" cy="1463040"/>
          </a:xfrm>
          <a:prstGeom prst="line">
            <a:avLst/>
          </a:prstGeom>
          <a:noFill/>
          <a:ln w="19050">
            <a:solidFill>
              <a:srgbClr val="3D5C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2560320"/>
            <a:ext cx="1737360" cy="548640"/>
          </a:xfrm>
          <a:prstGeom prst="line">
            <a:avLst/>
          </a:prstGeom>
          <a:noFill/>
          <a:ln w="19050">
            <a:solidFill>
              <a:srgbClr val="3D5C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8229600" y="2560320"/>
            <a:ext cx="1371600" cy="91440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3474720"/>
            <a:ext cx="1920240" cy="73152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0149840" y="3108960"/>
            <a:ext cx="1188720" cy="1097280"/>
          </a:xfrm>
          <a:prstGeom prst="line">
            <a:avLst/>
          </a:prstGeom>
          <a:noFill/>
          <a:ln w="19050">
            <a:solidFill>
              <a:srgbClr val="3D5C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49840" y="4206240"/>
            <a:ext cx="1005840" cy="109728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3474720"/>
            <a:ext cx="731520" cy="1737360"/>
          </a:xfrm>
          <a:prstGeom prst="line">
            <a:avLst/>
          </a:prstGeom>
          <a:noFill/>
          <a:ln w="19050">
            <a:solidFill>
              <a:srgbClr val="3D5C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961120" y="4206240"/>
            <a:ext cx="1188720" cy="1005840"/>
          </a:xfrm>
          <a:prstGeom prst="line">
            <a:avLst/>
          </a:prstGeom>
          <a:noFill/>
          <a:ln w="19050">
            <a:solidFill>
              <a:srgbClr val="3D5C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0" y="1097280"/>
            <a:ext cx="548640" cy="2011680"/>
          </a:xfrm>
          <a:prstGeom prst="line">
            <a:avLst/>
          </a:prstGeom>
          <a:noFill/>
          <a:ln w="19050">
            <a:solidFill>
              <a:srgbClr val="3D5C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18872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914400"/>
            <a:ext cx="365760" cy="3657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18320" y="237744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0" y="2926080"/>
            <a:ext cx="365760" cy="3657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329184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402336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5029200"/>
            <a:ext cx="365760" cy="3657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0" y="512064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PERCORSO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cosa parliamo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Cinque parti, dal perché al come, fino ai casi d'uso in azienda.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914" cy="347472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6596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 e l'idea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34086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passaggi di consegna, la metafora, il pattern di partenza e cosa ho aggiunto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3464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funziona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20954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pagine, grafo, ricerca, memoria, domande all'autore, assistenti AI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70332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 difficili e controllo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07822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cosa succede quando qualcosa va storto, lavoro in squadra, sicurezza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5720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si evolve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94690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 tappe, il metodo ICM, le lavorazioni, le misure di qualità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5486400"/>
            <a:ext cx="548640" cy="54864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4406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 d'uso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581558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consegne, onboarding, IT, progetti, audit e come adottarlo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 e l'idea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886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CEAE6"/>
                </a:solidFill>
              </a:rPr>
              <a:t>Perché serve Teseo, da quale idea parte e che cosa ho cambiato.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IL PROBLEMA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lascia un progetto porta via la conoscenza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Nei passaggi di consegna le informazioni esistono, ma sono sparse e in parte solo nella testa delle persone.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94610" cy="310896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55300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46120"/>
            <a:ext cx="20459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Conoscenza dispersa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31920"/>
            <a:ext cx="20459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Call, manuali, mail e ticket stanno in posti diversi. Chi arriva non sa da dove iniziare.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71850" y="2103120"/>
            <a:ext cx="2594610" cy="310896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646170" y="23774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735" y="255300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46170" y="3246120"/>
            <a:ext cx="20459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Conoscenza tacita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646170" y="3931920"/>
            <a:ext cx="20459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Chi chiamare, perché si fa così, le eccezioni: nessuno l'ha mai scritto.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195060" y="2103120"/>
            <a:ext cx="2594610" cy="310896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469380" y="23774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945" y="255300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69380" y="3246120"/>
            <a:ext cx="20459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Documenti obsoleti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469380" y="3931920"/>
            <a:ext cx="20459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Versioni diverse si contraddicono e nessuno sa quale sia quella vera.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018270" y="2103120"/>
            <a:ext cx="2594610" cy="310896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9292590" y="23774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155" y="255300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92590" y="3246120"/>
            <a:ext cx="20459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Nessuna tracciabilità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9292590" y="3931920"/>
            <a:ext cx="20459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Non si sa da quale fonte viene un'informazione né chi l'ha cambiata.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L'OBIETTIVO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Raccogliere, interrogare, condividere con controllo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Tre obiettivi, uno per ogni parte del problema.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74520" y="201168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976" y="223113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Raccogliere facilmente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566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Si copiano i documenti in una cartella. L'AI li riassume in pagine collegate, una per argomento.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669280" y="201168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2231136"/>
            <a:ext cx="475488" cy="4754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Interrogare con le fonti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434840" y="3566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Chi subentra chiede a parole sue. Le risposte citano le fonti e mostrano dubbi e lacune.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464040" y="20116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96" y="2231136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13816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Condividere con controllo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8229600" y="3566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archivio condiviso e adattabile, con conferme, revisione dei conflitti e storia di chi ha scritto cosa.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548640" y="534924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Principio guida: i file di testo comandano, l'AI non inventa, la persona decide.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IL NOME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labirinto, Teseo e il filo di Arianna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La metafora del mito descrive esattamente i tre pezzi del sistema.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40280" y="2743200"/>
            <a:ext cx="7680960" cy="91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057400"/>
            <a:ext cx="1371600" cy="13716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664" y="2386584"/>
            <a:ext cx="713232" cy="7132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labirinto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60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 documenti di un progetto: call, manuali, verbali, mail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394960" y="2057400"/>
            <a:ext cx="1371600" cy="13716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2386584"/>
            <a:ext cx="713232" cy="7132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97680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Teseo</a:t>
            </a:r>
            <a:endParaRPr lang="en-US" sz="230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4160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l'assistente AI che lo esplora al posto tuo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9235440" y="205740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4" y="2386584"/>
            <a:ext cx="713232" cy="7132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38160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filo di Arianna</a:t>
            </a:r>
            <a:endParaRPr lang="en-US" sz="23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0" y="4160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 collegamenti tra le pagine, che guidano l'AI e riportano alle fonti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2"/>
                </a:solidFill>
              </a:rPr>
              <a:t>Teseo non risponde «a memoria»: segue il filo, legge le pagine e cita da dove viene ogni fatto.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IL PUNTO DI PARTENZA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L'idea di Karpathy: una wiki scritta dall'AI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Invece di cercare ogni volta nei documenti originali, l'AI costruisce e tiene aggiornata una wiki ordinata.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03504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1 · Fonti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I documenti originali. Non si modificano mai.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603504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5661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2 · Wiki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Pagine brevi, una per argomento, scritte dall'AI.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6035040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9377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3 · Regole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394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Le convenzioni che l'AI deve seguire.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operazioni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040880" y="265176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Ingest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2651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documento nuovo diventa pagine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040880" y="356616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Query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3566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si fanno domande alla wiki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40880" y="448056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Lint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4480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wiki si controlla e si sistema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COME L'HO ADATTATO · 1 DI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mancava e cosa ho aggiunto: trovare e capire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Il primo gruppo di limiti riguarda la ricerca delle informazioni e ciò che la wiki non sa.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2648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Cosa mancava nel pattern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Cosa ho aggiunto in Teseo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L'AI deve cercare da sola le pagine giuste, alla cieca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Un grafo collega le pagine e, a ogni domanda, porta all'AI quelle utili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 collegamenti dicono solo «collegato», non come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Relazioni con un significato: usa, richiede, referente, causa…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Il sistema non impara dalle domande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Una memoria ricorda quali pagine sono servite davvero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Lacune e contraddizioni restano nascoste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Il vault fa domande all'autore e tiene visibili le contraddizioni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COME L'HO ADATTATO · 2 DI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mancava e cosa ho aggiunto: usarlo in azienda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Il secondo gruppo di limiti riguarda la qualità, il lavoro in squadra e la produzione di documenti.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2648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Cosa mancava nel pattern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Cosa ho aggiunto in Teseo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Non si misura la qualità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Controlli automatici, domande di prova, un indicatore di qualità, 849 test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Funziona per una persona sola, con un solo assistente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Archivio condiviso con Git; Claude Code, Codex e Copilot sullo stesso vault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Istruzioni per l'AI lunghe e difficili da verificare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Istruzioni scritte come contratti controllabili (metodo ICM)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La wiki serve solo a rispondere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Lavorazioni: report e schede prodotti dalla wiki e verificati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funziona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886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CEAE6"/>
                </a:solidFill>
              </a:rPr>
              <a:t>Dal documento grezzo alla risposta con le fonti, passo per passo.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PANORAMICA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documento alla risposta in cinque passaggi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Ogni passaggio ha un compito preciso; tutto vive in file sul tuo computer.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Documenti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423160" y="2651760"/>
            <a:ext cx="38862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32918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Call, manuali, verbali. Non si modificano mai.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57500" y="219456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Wiki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732020" y="2651760"/>
            <a:ext cx="38862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857500" y="32918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L'AI li riassume in pagine collegate, una per argomento.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66360" y="219456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Grafo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40880" y="2651760"/>
            <a:ext cx="38862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166360" y="32918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piccolo database registra come le pagine sono legate.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75220" y="219456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Assistente AI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349740" y="2651760"/>
            <a:ext cx="38862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475220" y="32918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Prima di rispondere riceve dal grafo le pagine utili.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84080" y="219456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Risposta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0" y="329184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L'AI legge le pagine e cita da dove viene ogni fatto.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Solo file locali: pagine Markdown e database SQLite, nessun server. Obsidian è facoltativo.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ANATOMIA DI UN VAULT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vault è una normale cartella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Le pagine di testo comandano; i database si possono sempre ricostruire, tranne la storia personale.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577840" cy="4069080"/>
          </a:xfrm>
          <a:prstGeom prst="roundRect">
            <a:avLst>
              <a:gd name="adj" fmla="val 2247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52120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MioVault/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raw/      documenti originali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wiki/     pagine scritte dall'AI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Wiki reference.md   regole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index.md  indice e punti aperti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log.md    cronologia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.graph/   grafo e memoria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.claude/ .codex/ .github/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istruzioni per l'AI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21208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629400" y="22860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2" y="245059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54380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Comandano i testi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25420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Documenti, pagine e regole sono l'autorità.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0" y="3410712"/>
            <a:ext cx="521208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6629400" y="3685032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3849624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543800" y="3547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Grafo ricostruibile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7543800" y="394106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 rigenera sempre dalle pagine: un errore non fa danni.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0" y="4809744"/>
            <a:ext cx="521208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6629400" y="5084064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5248656"/>
            <a:ext cx="356616" cy="35661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543800" y="4946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Storia da salvare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7543800" y="534009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Memoria e domande non si rigenerano: vanno salvate.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IL CICLO DI VITA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Ingest, lint, lacune: una wiki che migliora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Quattro operazioni, sempre le stesse per tutti gli assistenti AI.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423160" y="3200400"/>
            <a:ext cx="1737360" cy="17373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23160" y="3200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Wiki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0" y="1984248"/>
            <a:ext cx="146304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Ingest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09160" y="3767328"/>
            <a:ext cx="146304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0" y="5458968"/>
            <a:ext cx="1463040" cy="603504"/>
          </a:xfrm>
          <a:prstGeom prst="roundRect">
            <a:avLst>
              <a:gd name="adj" fmla="val 12121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Lacune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3767328"/>
            <a:ext cx="1463040" cy="603504"/>
          </a:xfrm>
          <a:prstGeom prst="roundRect">
            <a:avLst>
              <a:gd name="adj" fmla="val 12121"/>
            </a:avLst>
          </a:prstGeom>
          <a:solidFill>
            <a:schemeClr val="accent4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Query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23360" y="2286000"/>
            <a:ext cx="1280160" cy="1481328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4023360" y="4370832"/>
            <a:ext cx="1280160" cy="1389888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 flipV="1">
            <a:off x="1280160" y="4370832"/>
            <a:ext cx="1280160" cy="1389888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400800" y="205740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Ingest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4048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documento nuovo diventa pagine collegate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0175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Lint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3649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controlla la wiki: doppioni, link rotti, relazioni mancanti, sintesi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9776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Lacune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32511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chiede all'autore ciò che solo lui sa, una domanda alla volta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93776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Query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528523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risponde dalle pagine, citando; si usa in ogni momento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5852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Ritmo consigliato: lint dopo ogni ingest, lacune ogni settimana.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INGEST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un documento diventa pagine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Sei passi; ognuno è controllabile e il passo 3 lascia la parola a 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356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860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40280"/>
            <a:ext cx="248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Sincronizza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303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Scarica il lavoro dei colleghi, se il vault è condiviso.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2920" y="2057400"/>
            <a:ext cx="35356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4541520" y="22860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415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27320" y="2240280"/>
            <a:ext cx="248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Legge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587240" y="2971800"/>
            <a:ext cx="303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 regole del vault e il documento per intero, con i minuti della call.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77200" y="2057400"/>
            <a:ext cx="35356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8305800" y="22860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058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991600" y="2240280"/>
            <a:ext cx="248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Piano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51520" y="2971800"/>
            <a:ext cx="303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Per i documenti importanti propone cosa scrivere e si ferma.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35356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4348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389120"/>
            <a:ext cx="248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Scrive le pagine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120640"/>
            <a:ext cx="303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per argomento; aggiorna anche 10-15 pagine esistenti.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12920" y="4206240"/>
            <a:ext cx="35356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6" name="Shape 24"/>
          <p:cNvSpPr/>
          <p:nvPr/>
        </p:nvSpPr>
        <p:spPr>
          <a:xfrm>
            <a:off x="4541520" y="44348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4152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227320" y="4389120"/>
            <a:ext cx="248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Controlla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4587240" y="5120640"/>
            <a:ext cx="303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Verifica automatica di link, relazioni e fonti.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77200" y="4206240"/>
            <a:ext cx="35356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31" name="Shape 29"/>
          <p:cNvSpPr/>
          <p:nvPr/>
        </p:nvSpPr>
        <p:spPr>
          <a:xfrm>
            <a:off x="8305800" y="44348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0580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991600" y="4389120"/>
            <a:ext cx="248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Pubblica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8351520" y="5120640"/>
            <a:ext cx="303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Aggiorna indice e cronologia; invia ai colleghi.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UNA PAGINA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Com'è fatta una pagina della wiki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In alto un'intestazione con tipo, fonti e relazioni; sotto il testo, con la fonte di ogni fatto.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035040" cy="3154680"/>
          </a:xfrm>
          <a:prstGeom prst="roundRect">
            <a:avLst>
              <a:gd name="adj" fmla="val 2899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tipo: processo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fonti: [call-2026-09-10]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usa: "[[Console di rilascio]]"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Rilascio in produzione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Ogni rilascio passa dalla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[[Console di rilascio]]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[call-2026-09-10].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⚠️ da verificare: mercoledì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venerdì?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243230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che cosa descrive: processo, sistema, persona…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8803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320954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 quali documenti vengono i fatti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6576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39867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relazione verso un'altra pagina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443484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[call-…]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47640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fonte di questa frase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52120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⚠️ da verificare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554126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dubbio che resta visibile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IL PIANO DI INGEST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 documenti importanti, prima un piano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Correggere un file di piano costa molto meno che correggere quindici pagine già scritte.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L'AI scrive il piano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971800" y="2560320"/>
            <a:ext cx="42672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44240" y="210312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Controllo automatico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67400" y="2560320"/>
            <a:ext cx="42672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39840" y="210312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Tu lo correggi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763000" y="2560320"/>
            <a:ext cx="42672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35440" y="210312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L'AI segue il piano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29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contiene il piano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pagine da creare e pagine da aggiornare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relazioni tra le pagine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nomi alternativi (alias)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contraddizioni con ciò che il vault sa già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92240" y="3429000"/>
            <a:ext cx="5120640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0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Che cosa controlla piano.py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406908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il documento esiste in raw/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 pagine nuove non esistono già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 relazioni sono tra quelle ammesse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 nomi alternativi non creano confusione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IL FILO DI ARIANNA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grafo: pagine legate da relazioni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Ogni collegamento ha un significato. Seguendoli, l'AI arriva a prerequisiti e persone di riferimento.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214884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Rilascio in produzione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processo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2788920"/>
            <a:ext cx="731520" cy="914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606040" y="2350008"/>
            <a:ext cx="100584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usa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20440" y="2331720"/>
            <a:ext cx="214884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Console di rilascio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sistema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2788920"/>
            <a:ext cx="731520" cy="914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577840" y="2350008"/>
            <a:ext cx="100584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richiede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214884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Incident settimanale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processo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0" y="2788920"/>
            <a:ext cx="731520" cy="914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8549640" y="2350008"/>
            <a:ext cx="100584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referente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64040" y="2331720"/>
            <a:ext cx="214884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Anna Rossi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persona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4160520"/>
            <a:ext cx="21488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Gestionale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sistema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94860" y="3291840"/>
            <a:ext cx="914" cy="8229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704588" y="3520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parte di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4160520"/>
            <a:ext cx="21488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ServiceDesk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sistema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66660" y="3291840"/>
            <a:ext cx="914" cy="8229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676388" y="3520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In rosso il percorso che risponde a: «cosa serve per il rilascio e chi me lo dà?»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IL VOCABOLARIO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Dieci relazioni, adattabili al dominio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Sono scritte nelle regole del vault: si possono aggiungere relazioni per il proprio settore.</a:t>
            </a:r>
            <a:endParaRPr lang="en-US" sz="1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566160"/>
                <a:gridCol w="4846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Relazione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Significato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Esempio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parte_di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è un componente di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Modulo fatture → Gestionale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usa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funziona tramite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Rilascio → Console di rilascio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richiede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non parte senza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Console → Incident settimanale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precede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viene prima di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Censimento → Caricamento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causa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provoca (se la fonte lo dice)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Backup fallito → Report incompleto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referente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 persona a cui chiedere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Incident settimanale → Anna Rossi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variante_di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caso particolare di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Rilascio d'emergenza → Rilascio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sostituisce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prende il posto di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Portale 2026 → Portale 2019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riguarda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ha come oggetto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Errore del 3 marzo → Rilascio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da_non_confondere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simile ma diverso da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Anna Rossi → Anna Rosso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LA RICERCA (RECALL)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Teseo prepara il contesto per l'AI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 ogni domanda, prima che l'AI risponda, Teseo sceglie le pagine utili in quattro passi. Senza usare l'AI.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9461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860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40280"/>
            <a:ext cx="15430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Punti di partenza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20916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Cerca nella domanda nomi di pagine, sinonimi e parole dei titoli («rilasciare» trova «Rilascio»).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71850" y="2057400"/>
            <a:ext cx="259461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3600450" y="22860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0045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286250" y="2240280"/>
            <a:ext cx="15430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Segue i collegamenti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46170" y="2971800"/>
            <a:ext cx="20916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Solo relazioni con un significato, fino a 3 passi: arriva a prerequisiti e referenti.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5060" y="2057400"/>
            <a:ext cx="259461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23660" y="22860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236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09460" y="2240280"/>
            <a:ext cx="15430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Aggiunge la memoria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69380" y="2971800"/>
            <a:ext cx="20916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 pagine lette in passato per domande simili.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18270" y="2057400"/>
            <a:ext cx="259461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9246870" y="22860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4687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932670" y="2240280"/>
            <a:ext cx="15430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Piano B: il testo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292590" y="2971800"/>
            <a:ext cx="20916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 non trova nulla cerca nel testo e lo dichiara come aggancio debole.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489204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 non trova niente, l'AI deve cercare nelle pagine: mai rispondere a memoria.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ESEMPIO REALE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domanda, una catena di pagine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Uscita reale del motore sul vault d'esempio. La domanda nomina una sola pagina, il grafo trova il resto.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tx2"/>
                </a:solidFill>
              </a:rPr>
              <a:t>«Devo fare un rilascio in produzione: cosa mi serve e chi me lo dà?»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126480" cy="251460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8036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Dal grafo della wiki (5 fatti):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Rilascio in produzione → usa 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 di rilascio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 di rilascio → richiede 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Incident settimanale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settimanale → referente 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Anna Rossi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 parte_di Gestionale, usa ServiceDesk)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0" y="27889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1114" y="292059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635240" y="27432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Legge le pagine della catena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949440" y="363016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114" y="376184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35240" y="358444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Risponde: serve la console, che richiede l'incident settimanale, fatto da Anna Rossi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949440" y="4471416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114" y="4603090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635240" y="442569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Segnala il dubbio: mercoledì per il manuale, venerdì per la call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949440" y="5312664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114" y="5444338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35240" y="526694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Cita la call del 10 settembre e il manuale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LA MEMORIA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sistema impara dalle domande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La memoria impara il linguaggio delle persone, ma solo dalle pagine davvero lette per rispondere.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2743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Una domanda che il grafo non riconosce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2743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pagine che l'AI apre davvero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06240" y="2606040"/>
            <a:ext cx="29260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 fine risposta le associa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0" y="2606040"/>
            <a:ext cx="35661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Domanda simile: si parte da quelle pagine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2487168"/>
            <a:ext cx="822960" cy="438912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3337560" y="3200400"/>
            <a:ext cx="822960" cy="429768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178040" y="3063240"/>
            <a:ext cx="82296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4434840"/>
            <a:ext cx="35204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6177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4749394"/>
            <a:ext cx="285293" cy="285293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46304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Conta come lettura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5257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l'apertura del file confermata dall'assistente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97680" y="4434840"/>
            <a:ext cx="35204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8" name="Shape 15"/>
          <p:cNvSpPr/>
          <p:nvPr/>
        </p:nvSpPr>
        <p:spPr>
          <a:xfrm>
            <a:off x="4526280" y="46177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54" y="4749394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21208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Non conta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4526280" y="5257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semplice ricerca di parole nei file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8046720" y="4434840"/>
            <a:ext cx="35204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3" name="Shape 19"/>
          <p:cNvSpPr/>
          <p:nvPr/>
        </p:nvSpPr>
        <p:spPr>
          <a:xfrm>
            <a:off x="8275320" y="46177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994" y="4749394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96112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Domande ricorrenti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8275320" y="5257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diventano sinonimi (alias) della pagina giusta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DOMANDE APERTE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vault sa dire che cosa non sa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Teseo calcola dalle pagine le domande da fare all'autore. Qui la conoscenza tacita diventa scritta.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50728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240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Punti aperti dell'indice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26609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«Giorno di rilascio: mercoledì o venerdì?»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2057400"/>
            <a:ext cx="544068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23317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365" y="250728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2240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Dati da verificare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360920" y="26609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nomi tecnici trascritti male da una call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544068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3794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397032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3703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Manca il referente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737360" y="412394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«Chi è il referente del Gestionale?»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172200" y="3520440"/>
            <a:ext cx="544068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6400800" y="379476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365" y="397032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60920" y="3703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Sintesi impossibili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7360920" y="412394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wiki non basta per rispondere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48640" y="516636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Al massimo 3 domande per volta, mai la stessa due volte nella stessa sessione.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DOMANDE APERTE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vita di una domanda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Rinviare si può, rimandare all'infinito no.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23774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Aperta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892040" y="2286000"/>
            <a:ext cx="237744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Rinviata 30 giorni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0" y="2286000"/>
            <a:ext cx="237744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Da decidere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892040" y="4480560"/>
            <a:ext cx="237744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Chiusa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246120" y="2670048"/>
            <a:ext cx="160020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264408" y="2286000"/>
            <a:ext cx="155448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non so ancora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2670048"/>
            <a:ext cx="160020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7333488" y="2286000"/>
            <a:ext cx="155448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dopo 3 rinvii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11680" y="3108960"/>
            <a:ext cx="2834640" cy="164592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4864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l'autore risponde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 flipH="1">
            <a:off x="7315200" y="3108960"/>
            <a:ext cx="2834640" cy="164592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18972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decisione nel lint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 risposta entra nella pagina come [nota-utente] e vale più della fonte che corregge.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PAGINE DI SINTESI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risposte sparse diventano una pagina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Quando una risposta è divisa su più pagine, il lint scrive una pagina che le collega. Senza fatti nuovi.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743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Rilascio in produzione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2743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Console di rilascio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27432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Incident settimanale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0" y="2880360"/>
            <a:ext cx="283464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Prerequisiti del rilascio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pagina di sintesi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flipH="1" flipV="1">
            <a:off x="3337560" y="2532888"/>
            <a:ext cx="1188720" cy="107899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3337560" y="3611880"/>
            <a:ext cx="1188720" cy="1097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3337560" y="3611880"/>
            <a:ext cx="1188720" cy="129844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7863840" y="2011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Regole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51460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nasce solo da domande calcolate dal grafo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collega tutte le pagine della risposta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nessun fatto nuovo: se manca un pezzo, diventa una domanda per l'autore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non si corregge a mano: si corregge la pagina d'origine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TRE ASSISTENTI AI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Code, Codex e Copilot sullo stesso vault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Puoi usarne uno solo o alternarli: pagine, grafo e memoria sono gli stessi.</a:t>
            </a:r>
            <a:endParaRPr lang="en-US" sz="1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834640"/>
                <a:gridCol w="2834640"/>
                <a:gridCol w="27432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Claude Code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Codex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Copilot CLI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Istruzioni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CLAUDE.md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AGENTS.md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copilot-instructions.md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Modello usato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Opus; le domande semplici a Haiku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ruoli Sol, Astra, Luna suggeriti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il modello attivo di Copilot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Conferma le letture con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Read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leggi.py con token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view riuscita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527425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5074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errore negli agganci automatici non blocca mai l'utente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172200" y="51206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819" y="5274259"/>
            <a:ext cx="332842" cy="33284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995160" y="5074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L'installazione non tocca account né permessi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 difficili e controllo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886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CEAE6"/>
                </a:solidFill>
              </a:rPr>
              <a:t>Cosa succede quando qualcosa va storto, e come si lavora in squadra senza perdere il controllo.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CASI DIFFICILI · RICERCA 1 DI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la domanda è difficile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Ogni caso ha un comportamento stabilito: niente invenzioni, niente blocchi.</a:t>
            </a:r>
            <a:endParaRPr lang="en-US" sz="1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Caso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Che cosa fa Teseo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La domanda non nomina nessuna pagina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Cerca nel testo e dichiara l'aggancio come debole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Domanda fuori tema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Non aggiunge nulla: è verificato da domande di prova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Una pagina ha l'intestazione rotta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Usa il grafo precedente e lo dice a te e all'AI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Errore interno durante la ricerca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L'AI riceve istruzioni per cercare da sola nelle pagine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CASI DIFFICILI · RICERCA 2 DI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 documenti non sono affidabili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Le contraddizioni non si appianano: per chi subentra sono informazioni preziose.</a:t>
            </a:r>
            <a:endParaRPr lang="en-US" sz="1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Caso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Che cosa fa Teseo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Due fonti si contraddicono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La contraddizione si scrive nella pagina e diventa una domanda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Nome incerto da una trascrizione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Resta «da verificare» finché un documento scritto non lo conferma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Una fonte contiene un errore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Il documento non si tocca: si aggiunge la correzione dell'autore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L'assistente non supporta gli agganci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La ricerca si fa dalla skill di query: funziona comunque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CASI DIFFICILI · SQUADRA 1 DI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si lavora in più persone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Il sistema automatizza solo ciò che è certo; quando serve un giudizio si ferma e chiede.</a:t>
            </a:r>
            <a:endParaRPr lang="en-US" sz="1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Caso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Che cosa fa Teseo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Manca la rete all'inizio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Prosegue senza rete e lo segnala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Manca la rete alla fine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Il lavoro resta salvato e si pubblica dopo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Ci sono modifiche non pubblicate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Si ferma e spiega come pubblicarle prima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Due persone modificano la stessa nota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Si ferma: si decide dalla dashboard, con revisione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CASI DIFFICILI · SQUADRA 2 DI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 cambiamenti si incrociano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Anche file diversi possono contenere fatti incompatibili: in quel caso decide una persona.</a:t>
            </a:r>
            <a:endParaRPr lang="en-US" sz="1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Caso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Che cosa fa Teseo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Modifiche a note collegate tra loro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Si ferma anche se i file sono diversi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Tutti aggiungono righe a log e indice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Unione automatica: nessuno cancella niente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PDF e file pesanti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Restano sul disco di chi li ha; si condivide il testo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Obsidian aperto durante una modifica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Serve conferma con gli editor chiusi</a:t>
                      </a:r>
                      <a:endParaRPr lang="en-US" sz="17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COLLABORAZIONE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archivio condiviso, senza comandi Git a mano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Il vault si condivide in un repository Git dell'azienda. Le skill scaricano prima e pubblicano dopo, da sole.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installa.py VAULT --collabora https://github.com/azienda/vault.git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2918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1 · Prima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scarica le novità dei colleghi e aggiorna il grafo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886200" y="3630168"/>
            <a:ext cx="502920" cy="91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34840" y="2834640"/>
            <a:ext cx="3291840" cy="160020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2 · Lavoro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ingest, lint o lacune, fino al controllo pulito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0" y="3630168"/>
            <a:ext cx="502920" cy="91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21040" y="2834640"/>
            <a:ext cx="32918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49640" y="2971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3 · Dopo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3429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controlla, crea il commit e lo pubblica in modo sicuro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937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tutto a posto, procedi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97680" y="49377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29768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4937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fermati, serve una persona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046720" y="49377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823960" y="4937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senza rete, lavoro salvato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Le tre risposte possibili dello strumento di sincronizzazione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TRACCIABILITÀ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Ogni modifica dice chi, con cosa e perché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La persona resta l'autrice; in fondo al commit si registrano l'assistente e l'operazione usati.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577840" cy="2377440"/>
          </a:xfrm>
          <a:prstGeom prst="roundRect">
            <a:avLst>
              <a:gd name="adj" fmla="val 3846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Autore: Mario Bianchi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 della call del 10/09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Teseo-Skill: ingest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A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Teseo-Agent: claude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Esempio con un nome inventato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2103120"/>
            <a:ext cx="52120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0" y="23774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2" y="2542032"/>
            <a:ext cx="356616" cy="35661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543800" y="2331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Autori di ogni nota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27614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visibili nella dashboard e filtrabili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0" y="3977640"/>
            <a:ext cx="52120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6629400" y="42519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4416552"/>
            <a:ext cx="356616" cy="35661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543800" y="4206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Correzioni ripetute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7543800" y="46360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 le persone correggono sempre lo stesso errore, Teseo propone di cambiare le regole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CONTROLLO E SICUREZZA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Automatico solo dove le regole sono certe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Sette principi che rendono la condivisione sicura per un'azienda.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757" y="2125797"/>
            <a:ext cx="247254" cy="2472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97510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 documenti originali non si toccano: si può solo aggiungere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596896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7" y="2711013"/>
            <a:ext cx="247254" cy="24725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560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Costruire, controllare e pubblicare sono passi separati: vince l'ultima versione valida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3182112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3296229"/>
            <a:ext cx="247254" cy="2472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314553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novità si uniscono in un'area isolata, mai nel vault in uso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3767328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" y="3881445"/>
            <a:ext cx="247254" cy="24725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37307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Mai cancellazioni o sovrascritture forzate della storia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548640" y="4352544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57" y="4466661"/>
            <a:ext cx="247254" cy="24725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234440" y="43159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Prima di pubblicare: solo cartelle ammesse e ricerca di password e chiavi</a:t>
            </a:r>
            <a:endParaRPr lang="en-US" sz="1700" dirty="0"/>
          </a:p>
        </p:txBody>
      </p:sp>
      <p:sp>
        <p:nvSpPr>
          <p:cNvPr id="20" name="Shape 13"/>
          <p:cNvSpPr/>
          <p:nvPr/>
        </p:nvSpPr>
        <p:spPr>
          <a:xfrm>
            <a:off x="548640" y="4937760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57" y="5051877"/>
            <a:ext cx="247254" cy="24725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234440" y="490118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 dati ricevuti dai colleghi non avviano mai programmi</a:t>
            </a:r>
            <a:endParaRPr lang="en-US" sz="1700" dirty="0"/>
          </a:p>
        </p:txBody>
      </p:sp>
      <p:sp>
        <p:nvSpPr>
          <p:cNvPr id="23" name="Shape 15"/>
          <p:cNvSpPr/>
          <p:nvPr/>
        </p:nvSpPr>
        <p:spPr>
          <a:xfrm>
            <a:off x="548640" y="5522976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757" y="5637093"/>
            <a:ext cx="247254" cy="24725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234440" y="5486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Tutto è facoltativo: senza consenso non si pubblica nulla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DECISIONI DI PRODOTTO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scelte fatte apposta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Non sono limiti dimenticati: sono decisioni sulla sicurezza, con i criteri per riaprirle.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DECISIONE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note non si modificano mai da sole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AE6"/>
                </a:solidFill>
              </a:rPr>
              <a:t>Nessun sistema impedisce davvero a Obsidian di scrivere nello stesso istante: si rischierebbe di perdere modifiche non salvate. Scaricare e pubblicare restano automatici; modificare le note richiede conferma.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72200" y="2057400"/>
            <a:ext cx="544068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DECISIONE 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lavorazioni non si condividono nell'archivio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52044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AE6"/>
                </a:solidFill>
              </a:rPr>
              <a:t>Una pagina è un fatto da verificare, un'istruzione è un ordine per l'AI. Condividerle permetterebbe a chiunque scriva nell'archivio di dare ordini all'AI di tutti.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Consultare, correggere e pubblicare dal browser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Per chi non vuole usare la riga di comando. Funziona solo sul proprio computer.</a:t>
            </a:r>
            <a:endParaRPr lang="en-US" sz="1800" dirty="0"/>
          </a:p>
        </p:txBody>
      </p:sp>
      <p:pic>
        <p:nvPicPr>
          <p:cNvPr id="5" name="Image 0" descr="Dashboard di Teseo: consultazione del grafo del vault d'esemp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6217920" cy="3886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32320" y="20116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Grafo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234086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esplorazione con filtri per tipo e autore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27980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Regole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31272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modifica del vocabolario con anteprima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35844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Editor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39136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relazioni e pagine, sempre con conferma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437083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Pubblicazione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47000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invio, conflitti, revisione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51572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Lavorazioni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54864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stato dei documenti in produzione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si evolve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886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CEAE6"/>
                </a:solidFill>
              </a:rPr>
              <a:t>Dal pattern al motore, dal singolo al gruppo, dalle risposte al lavoro.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LE TAPPE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Ottobre 2026: tre fasi in dodici giorni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Ogni tappa ha risolto un limite emerso usando la tappa precedente.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914" cy="374904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29968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196596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19 ott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9659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Primo kit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96596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ingest, query, lint, lacune; grafo e memoria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2615184"/>
            <a:ext cx="402336" cy="40233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25880" y="255117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20 ott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55117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Tre assistenti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55117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Claude Code, Codex, Copilot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" y="3200400"/>
            <a:ext cx="402336" cy="402336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5880" y="313639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22-26 ott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31363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Fondamenta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13639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dashboard, regole modificabili, pubblicazione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3232" y="3785616"/>
            <a:ext cx="402336" cy="402336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25880" y="372160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27 ott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372160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Ricerca migliore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37216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 88 a 102 pagine trovate su 134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" y="4370832"/>
            <a:ext cx="402336" cy="402336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25880" y="430682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28 ott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2743200" y="430682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Squadra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430682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sincronizzazione automatica, autori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3232" y="4956048"/>
            <a:ext cx="402336" cy="402336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25880" y="48920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29 ott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2743200" y="48920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Collaudo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489204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 sistemi operativi, GitHub reale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3232" y="5541264"/>
            <a:ext cx="402336" cy="40233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325880" y="547725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30 ott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2743200" y="54772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Metodo ICM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120640" y="547725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contratti, lavorazioni, correzioni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418320" y="1965960"/>
            <a:ext cx="219456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Dal pattern al motore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18320" y="3136392"/>
            <a:ext cx="2194560" cy="2313432"/>
          </a:xfrm>
          <a:prstGeom prst="roundRect">
            <a:avLst>
              <a:gd name="adj" fmla="val 3333"/>
            </a:avLst>
          </a:prstGeom>
          <a:solidFill>
            <a:schemeClr val="accent4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Dal singolo al gruppo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418320" y="548640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Dalle risposte al lavoro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METODO ICM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istruzioni per l'AI diventano contratti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Ogni istruzione ha la stessa forma, che una persona può leggere e uno script può controllare.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Input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cosa leggere e perché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87752" y="2834640"/>
            <a:ext cx="196596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811780" y="210312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Processo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 passi, numerati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50892" y="2834640"/>
            <a:ext cx="196596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74920" y="210312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Checkpoint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dove fermarsi e chiedere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14032" y="2834640"/>
            <a:ext cx="196596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338060" y="210312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Verifica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controlli automatici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77172" y="2834640"/>
            <a:ext cx="196596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01200" y="210312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Output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cosa produrre e dove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77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principio più utile del metodo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Correggere la fonte, non il risultato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9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 le persone correggono spesso lo stesso tipo di errore, si cambia l'istruzione che lo produce, non le singole pagine.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METODO ICM · RISULTATI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 contesto, errori che migliorano le regole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Tre risultati misurati dell'integrazione.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661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−30%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testo di regole che l'AI legge per domande e lacune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5661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−81%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29184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per una domanda semplice che non salva nulla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38160" y="2103120"/>
            <a:ext cx="35661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su 2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329184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 stesso errore corretto 3 volte su 2 pagine diverse fa proporre una modifica alle regole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212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Inoltre: un test impedisce che le istruzioni dei tre assistenti diventino diverse tra loro.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LAVORAZIONI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Dalla wiki ai documenti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Una lavorazione produce un report o una scheda leggendo la wiki, a fasi, con un punto in cui decidi tu.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Raccolta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fatta da uno script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96312" y="2697480"/>
            <a:ext cx="310896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83464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Bozza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scritta dall'AI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82312" y="2697480"/>
            <a:ext cx="310896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12064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Tu correggi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checkpoint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68312" y="2697480"/>
            <a:ext cx="310896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40664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Revisione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fatta dall'AI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54312" y="2697480"/>
            <a:ext cx="310896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9264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Verifica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link e fonti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52760" y="3337560"/>
            <a:ext cx="914" cy="5943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1508760" y="3931920"/>
            <a:ext cx="914400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508760" y="3364992"/>
            <a:ext cx="914" cy="566928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200400" y="40233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il documento finale torna nella wiki come nuova fonte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6177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Non scrive mai direttamente nelle pagine della wiki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Ogni documento è collegato alle pagine (e alla loro versione) da cui nasce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Modelli inclusi: report periodico e scheda di un argomento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LAVORAZIONI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sistema sa quando un documento è vecchio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Ogni fase ha uno stato. Se cambia qualcosa a monte, la fase va rifatta e Teseo dice perché.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COMPLETA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fase è fatta ed è aggiornata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210312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 ATTESA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9718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fase non è ancora stata fatta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38160" y="2103120"/>
            <a:ext cx="356616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DA RIFARE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9718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è cambiato qualcosa da cui dipende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642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0690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Diventa DA RIFARE quando dopo il risultato cambia: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52628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una pagina usata nella raccolta, o la configurazione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l'istruzione della fase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il risultato di una fase precedente (per esempio la scaletta che hai corretto)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QUALITÀ MISURATA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Ogni modifica deve battere la versione precedente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Esperimento su un vault reale: 106 domande scritte come le farebbe un collega.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965960"/>
            <a:ext cx="3749040" cy="1261872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92440" y="20208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6060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pagine trovate con la ricerca a due giri (erano 88)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863840" y="3364992"/>
            <a:ext cx="3749040" cy="1261872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92440" y="341985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40050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domande peggiorate: condizione per adottarla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863840" y="4764024"/>
            <a:ext cx="3749040" cy="1261872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92440" y="48188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849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54041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test automatici superati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ONESTÀ SUI LIMITI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è verificato e cosa resta da provare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Ogni documento del progetto separa ciò che è provato da ciò che è ancora una proposta.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359152"/>
            <a:ext cx="356616" cy="3566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21945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Verificato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0632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Motore e lavorazioni: 849 test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Linux, Windows e macOS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Collaudo con GitHub reale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Obsidian aperto durante le modifiche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Dashboard su computer e telefono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172200" y="2011680"/>
            <a:ext cx="5440680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1945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35915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0" y="21945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Da provare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30632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L'AI con le istruzioni riscritte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Archivio privato con due account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Vault con molti PDF pesanti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Lavorazioni condivise, se servono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Uso reale in azienda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 d'uso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886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CEAE6"/>
                </a:solidFill>
              </a:rPr>
              <a:t>Il passaggio di consegne e gli altri usi in azienda.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CASO D'USO PRINCIPALE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passaggio di consegne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Il vault chiede a chi lascia ciò che manca; chi arriva trova risposte con le fonti.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2918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lascia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834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Copia call, manuali e verbali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Lancia ingest e lint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Risponde alle domande del vault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86200" y="3429000"/>
            <a:ext cx="502920" cy="914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4840" y="2057400"/>
            <a:ext cx="3291840" cy="274320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vault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743200"/>
            <a:ext cx="2834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Pagine con fonti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Chi fa cosa, cosa serve prima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Dubbi e lacune visibili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0" y="3429000"/>
            <a:ext cx="502920" cy="914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321040" y="2057400"/>
            <a:ext cx="32918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arriva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2743200"/>
            <a:ext cx="2834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Chiede a parole sue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Riceve risposte citate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Aggiunge ciò che impara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Le lacune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94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conoscenza tacita si scrive prima che la persona vada via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5029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Il referente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5394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risponde subito a «a chi chiedo?»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5029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Le fonti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5394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riportano al minuto esatto della call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CASI D'USO AZIENDALI · 1 DI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Persone e servizi interni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Ovunque la conoscenza vive in documenti e persone.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94610" cy="310896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55300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46120"/>
            <a:ext cx="20459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Onboarding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31920"/>
            <a:ext cx="20459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Risposte con le fonti e schede per area per i nuovi colleghi.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71850" y="2103120"/>
            <a:ext cx="2594610" cy="310896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646170" y="23774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735" y="255300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46170" y="3246120"/>
            <a:ext cx="20459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IT e help desk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646170" y="3931920"/>
            <a:ext cx="20459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Prerequisiti, a chi passare il problema, cause degli incidenti.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195060" y="2103120"/>
            <a:ext cx="2594610" cy="310896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469380" y="23774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945" y="255300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69380" y="3246120"/>
            <a:ext cx="20459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Progetti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469380" y="3931920"/>
            <a:ext cx="20459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Verbali e call diventano decisioni tracciate e report periodici.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018270" y="2103120"/>
            <a:ext cx="2594610" cy="310896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9292590" y="23774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155" y="255300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92590" y="3246120"/>
            <a:ext cx="20459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Continuità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9292590" y="3931920"/>
            <a:ext cx="20459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Chi chiamare, cosa serve prima, cosa succede se manca.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CASI D'USO AZIENDALI · 2 DI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Clienti, prodotto e conformità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Ovunque la conoscenza vive in documenti e persone.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94610" cy="310896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55300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46120"/>
            <a:ext cx="20459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Consulenza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31920"/>
            <a:ext cx="20459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vault per commessa; la consegna finale è un documento derivato.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71850" y="2103120"/>
            <a:ext cx="2594610" cy="310896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646170" y="23774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735" y="255300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46170" y="3246120"/>
            <a:ext cx="20459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Qualità e audit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646170" y="3931920"/>
            <a:ext cx="20459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Fonti intoccabili, citazioni precise, storia delle modifiche.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195060" y="2103120"/>
            <a:ext cx="2594610" cy="310896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469380" y="23774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945" y="255300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69380" y="3246120"/>
            <a:ext cx="20459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Prodotto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469380" y="3931920"/>
            <a:ext cx="20459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Componenti, sostituzioni, versioni e varianti collegati.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018270" y="2103120"/>
            <a:ext cx="2594610" cy="310896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9292590" y="23774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155" y="255300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92590" y="3246120"/>
            <a:ext cx="20459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Pre-vendita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9292590" y="3931920"/>
            <a:ext cx="20459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Risposte rapide con fonte e schede verificate.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PERCHÉ IN AZIENDA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Requisiti aziendali, risposte concrete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Sei requisiti che un'azienda chiede a uno strumento di documentazione.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22786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0574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Dati sotto controllo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4688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file locali; archivio dell'azienda, anche privato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72200" y="21031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765" y="227868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86600" y="20574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Nessun vincolo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086600" y="24688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testo e SQLite; tre assistenti AI intercambiabili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351312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2918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Adattabile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1463040" y="3703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relazioni e tipi di pagina scelti per il proprio settore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172200" y="33375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765" y="3513125"/>
            <a:ext cx="380390" cy="38039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86600" y="32918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Modifiche controllate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7086600" y="3703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conferme, revisione dei conflitti, richieste di modifica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45720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5" y="4747565"/>
            <a:ext cx="380390" cy="38039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526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Tracciabile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1463040" y="49377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ogni fatto con la fonte, ogni modifica con l'autore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6172200" y="45720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765" y="4747565"/>
            <a:ext cx="380390" cy="38039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086600" y="4526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Misurabile</a:t>
            </a:r>
            <a:endParaRPr lang="en-US" sz="1900" dirty="0"/>
          </a:p>
        </p:txBody>
      </p:sp>
      <p:sp>
        <p:nvSpPr>
          <p:cNvPr id="28" name="Text 20"/>
          <p:cNvSpPr txBox="1"/>
          <p:nvPr/>
        </p:nvSpPr>
        <p:spPr>
          <a:xfrm>
            <a:off x="7086600" y="49377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indicatori di qualità e domande aperte in calo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Da valutare con l'IT: l'assistente AI invia al suo fornitore i testi che legge, secondo come è configurato.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ADOZIONE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Sette passi, partendo da un progetto pilota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Il valore arriva dal ciclo di domande con chi lascia il progetto; la squadra si aggiunge dopo.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1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751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Pilota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5915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progetto con un passaggio di consegne vero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358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2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99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Installa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3832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prova automatica, poi sul vault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59936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5993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3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Adatta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40740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relazioni e tipi del proprio settore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084064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0840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4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047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Carica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543153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call, manuali, verbali; piano per i più importanti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20116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7220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5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19751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Chiedi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35915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lint e lacune con chi lascia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3035808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358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6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2999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Misura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33832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10 domande vere e un punto di partenza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2200" y="4059936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72200" y="405993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7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Condividi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440740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archivio privato, poi altri progetti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filo di Arianna per i tuoi progetti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2311603"/>
            <a:ext cx="451714" cy="45171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grafo che orienta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576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AE6"/>
                </a:solidFill>
              </a:rPr>
              <a:t>risposte che attraversano più documenti, sempre con le fonti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389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603" y="2311603"/>
            <a:ext cx="451714" cy="45171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8912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vault che chiede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4389120" y="36576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AE6"/>
                </a:solidFill>
              </a:rPr>
              <a:t>le domande all'autore salvano la conoscenza tacita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138160" y="21031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643" y="2311603"/>
            <a:ext cx="451714" cy="45171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3816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Condivisione controllata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8138160" y="36576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AE6"/>
                </a:solidFill>
              </a:rPr>
              <a:t>automatica dove è certo, umana dove serve giudizio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5120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Domande?</a:t>
            </a:r>
            <a:endParaRPr lang="en-US" sz="34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AE6"/>
                </a:solidFill>
              </a:rPr>
              <a:t>Guida completa: doc/presentazione/guida-teseo.md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seo">
  <a:themeElements>
    <a:clrScheme name="Teseo">
      <a:dk1>
        <a:srgbClr val="16302B"/>
      </a:dk1>
      <a:lt1>
        <a:srgbClr val="FFFFFF"/>
      </a:lt1>
      <a:dk2>
        <a:srgbClr val="1F6F62"/>
      </a:dk2>
      <a:lt2>
        <a:srgbClr val="EEF4F2"/>
      </a:lt2>
      <a:accent1>
        <a:srgbClr val="1F6F62"/>
      </a:accent1>
      <a:accent2>
        <a:srgbClr val="B8262F"/>
      </a:accent2>
      <a:accent3>
        <a:srgbClr val="D9A441"/>
      </a:accent3>
      <a:accent4>
        <a:srgbClr val="3F6E92"/>
      </a:accent4>
      <a:accent5>
        <a:srgbClr val="5E6E6A"/>
      </a:accent5>
      <a:accent6>
        <a:srgbClr val="2E9C8A"/>
      </a:accent6>
      <a:hlink>
        <a:srgbClr val="1F6F62"/>
      </a:hlink>
      <a:folHlink>
        <a:srgbClr val="3F6E92"/>
      </a:folHlink>
    </a:clrScheme>
    <a:fontScheme name="Tese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2026-10-30T21:28:19Z</dcterms:created>
  <dcterms:modified xsi:type="dcterms:W3CDTF">2026-10-30T21:28:19Z</dcterms:modified>
</cp:coreProperties>
</file>