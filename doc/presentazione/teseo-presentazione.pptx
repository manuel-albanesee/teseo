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8cfd608-6bda-5b96-71e8-594b1f4e66ad}">
          <p14:sldIdLst>
            <p14:sldId id="256"/>
            <p14:sldId id="257"/>
          </p14:sldIdLst>
        </p14:section>
        <p14:section name="Il problema e l'idea" id="{b3707803-fc96-7af8-37b2-8bef68dea4bf}">
          <p14:sldIdLst>
            <p14:sldId id="258"/>
            <p14:sldId id="259"/>
            <p14:sldId id="260"/>
            <p14:sldId id="261"/>
            <p14:sldId id="262"/>
          </p14:sldIdLst>
        </p14:section>
        <p14:section name="Come funziona" id="{c40a60b5-9c68-e9cf-df26-c59246dd7da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asistiche e controllo" id="{1b45b0c7-be5a-d7e5-b5fb-41da7d8df8b3}">
          <p14:sldIdLst>
            <p14:sldId id="274"/>
            <p14:sldId id="275"/>
            <p14:sldId id="276"/>
            <p14:sldId id="277"/>
            <p14:sldId id="278"/>
          </p14:sldIdLst>
        </p14:section>
        <p14:section name="Come si evolve" id="{0510d4ca-3d35-cbc0-88d3-d52bdbd9e3b9}">
          <p14:sldIdLst>
            <p14:sldId id="279"/>
            <p14:sldId id="280"/>
            <p14:sldId id="281"/>
            <p14:sldId id="282"/>
            <p14:sldId id="283"/>
          </p14:sldIdLst>
        </p14:section>
        <p14:section name="Casi d'uso" id="{89ce9ecb-e205-2e90-13d4-1fc4f1ab2904}">
          <p14:sldIdLst>
            <p14:sldId id="284"/>
            <p14:sldId id="285"/>
            <p14:sldId id="286"/>
            <p14:sldId id="287"/>
          </p14:sldIdLst>
        </p14:section>
        <p14:section name="Chiusura" id="{6a35b426-1167-cd9d-7196-5654150635b6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302B"/>
                </a:solidFill>
                <a:latin typeface="+mn-lt"/>
              </a:rPr>
              <a:t>Analisi del retrieval su vault reale (106 domande)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Pagine attese portate (su 134)</c:v>
                </c:pt>
              </c:strCache>
            </c:strRef>
          </c:tx>
          <c:spPr>
            <a:solidFill>
              <a:srgbClr val="7A8B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B8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B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8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B8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32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Finestra larga</c:v>
                  </c:pt>
                  <c:pt idx="2">
                    <c:v>Fusione grafo+testo</c:v>
                  </c:pt>
                  <c:pt idx="3">
                    <c:v>PageRank pers.</c:v>
                  </c:pt>
                  <c:pt idx="4">
                    <c:v>Ripiego a cascata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96</c:v>
                </c:pt>
                <c:pt idx="2">
                  <c:v>90</c:v>
                </c:pt>
                <c:pt idx="3">
                  <c:v>83</c:v>
                </c:pt>
                <c:pt idx="4">
                  <c:v>102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4"/>
          <c:min val="0"/>
        </c:scaling>
        <c:delete val="0"/>
        <c:axPos val="b"/>
        <c:majorGridlines>
          <c:spPr>
            <a:ln w="9525" cap="flat">
              <a:solidFill>
                <a:srgbClr val="D5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Teseo nasce da un problema concreto: i passaggi di consegna dei progetti aziendali. In questa presentazione: il concetto, come ho adattato e rafforzato il pattern da cui parte, come funziona nel dettaglio, come gestisce i casi difficili, come si sta evolvendo e dove si usa in azienda. Il motivo grafico a destra è il filo di Arianna: un percorso nel grafo dei documenti.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blocchi. Prima il perché, poi il come, poi i casi difficili e il controllo, l'evoluzione e infine i casi d'uso aziendali. La guida scritta (doc/presentazione/guida-teseo.md) segue lo stesso ordine con più dettaglio.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da cui sono partito: il passaggio di consegne dei progetti. La conoscenza tacita è la parte più critica: non è scritta da nessuna parte. A questo si aggiungono documenti che invecchiano e si contraddicono, e la mancanza di tracciabilità su chi ha scritto cosa e da quale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tre obiettivi corrispondono alle tre parti del problema. Il principio guida attraversa tutte le scelte tecniche: i file di testo comandano, i database sono derivati; il modello legge e cita, non inventa; nessuna scrittura delle note senza conferma.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metafora spiega il nome. Il punto chiave è il filo: senza il grafo l'assistente cerca alla cieca tra i file; con il grafo sa quali pagine sono collegate e come (usa, richiede, referente...).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di partenza è il pattern LLM Wiki pubblicato da Karpathy: tre livelli (fonti immutabili, wiki scritta dal modello, schema con le convenzioni) e tre operazioni. È un'idea potente ma è un'idea, non un sistema: lascia al modello quasi tutto. La slide successiva mostra i limiti che ho trovato usandolo su progetti reali.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centrale per spiegare il mio contributo. Ogni riga è un limite reale incontrato con il pattern originale e la risposta implementata nel codice. Le slide successive le riprendono una per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principale è in alto: le fonti diventano pagine con l'ingest, le pagine diventano un grafo con il build, l'hook di recall interroga il grafo a ogni domanda e passa al client AI i fatti collegati; il client legge le pagine e cita. Sotto: lo schema, la memoria e le domande aperte che alimentano il recall, la dashboard e, facoltativo, il repository dati per lavorare in squadra.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vault è una cartella normale, apribile anche in Obsidian. La distinzione importante è tra autorità, derivati e storia personale: per questo un errore nel build non fa danni (si usa l'ultimo grafo valido) mentre memoria e domande vanno salvate perché non si possono rigenerare.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skill uguali per tutti i client (le quattro del ciclo più le lavorazioni). Il ciclo consigliato è ingest, poi lint, poi lacune: il lint chiude da solo ciò che il vault già sa, le lacune portano all'autore solo ciò che solo lui può dire. La query si usa in qualsiasi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L'ingest distilla, non trascrive: una pagina per concetto, collegata densamente, ogni affermazione con la chiave della fonte e il timestamp. Il passo 2b è un'aggiunta recente (metodo ICM): per le fonti importanti il modello propone un piano e si ferma, l'utente lo corregge, piano.py lo controlla. A destra una pagina vera del vault d'esempio: frontmatter con tipo, fonti e relazione usa; l'incertezza è marcata, non nascosta.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grafo del vault d'esempio. Le relazioni sono proprietà del frontmatter con un significato preciso, definite nel vocabolario di Wiki reference.md e controllate da build_graph.py --check (tipi ammessi, link risolti, fonti censite). Il vocabolario si adatta al dominio dell'azienda. In rosso il filo: da Rilascio in produzione alla console, al prerequisito (incident settimanale) e alla persona (Anna Rossi).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recall è il cuore del motore e gira a ogni domanda tramite gli hook del client. È deterministico: niente embedding, niente modelli. Parte dai nomi e dai titoli citati, cammina sul grafo seguendo solo relazioni con significato, pota il rumore e dichiara cosa ha omesso. La memoria aggiunge le letture passate. Il ripiego sul testo interviene solo se il grafo non riconosce nulla, ed è dichiarato come aggancio debole.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eseguito davvero sul vault d'esempio del kit. La domanda nomina solo il rilascio, ma il cammino arriva in tre passi al prerequisito e alla persona. L'hook aggiunge anche la domanda aperta sulla contraddizione del giorno di rilascio: l'assistente deve riportarla, non sceglierne una. È esattamente la domanda che fa chi subentra in un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serve per il vocabolario reale delle persone, che non coincide con i titoli delle pagine. È volutamente severa: impara solo da letture confermate dal client. Le domande che tornano spesso si promuovono ad alias della pagina giusta, e da lì le trova il grafo direttamente.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lacune sono la funzione chiave per i passaggi di consegna: il vault chiede a chi sa, una domanda alla volta, ciò che manca. Rinviare è lecito, rimandare all'infinito no: dopo tre rinvii la domanda va decisa nel lint. Le risposte entrano nelle pagine come [nota-utente] e prevalgono sulla fonte che correggono.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L'entropia è governata: il modello non decide liberamente cosa sintetizzare. Le domande nascono dal grafo; la pagina di sintesi mette insieme pagine esistenti, con le loro fonti, senza aggiungere fatti. Nominata una volta, porta tutta la catena nel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 lock-in sul client AI. Ogni client ha i suoi file di istruzioni e hook, preparati dall'installatore dentro il vault; le skill sono le stesse. Su Claude c'è un instradamento Opus/Haiku per risparmiare sulle domande puntuali; su Codex i ruoli sono suggeriti e applicati solo dalla query autonoma.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robustezza viene dal dichiarare ogni degrado invece di nasconderlo. Nessun errore blocca l'utente, ma nessun errore viene spacciato per una risposta affidabile. Le contraddizioni non si appianano mai: sono informazione per chi subentra.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collaborazione è automatica solo dove le regole sono deterministiche: scaricare novità già validate e pubblicare commit attribuiti. Ovunque serve un giudizio, ad esempio due persone che toccano la stessa nota o note collegate, il sistema si ferma e chiede una decisione 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e dati sono repository distinti. Con --collabora il vault si collega a un repository dati dell'azienda, anche privato. Le skill chiamano teseo_git.py pre all'inizio e post alla fine: nessun comando Git a mano. I trailer nel commit registrano la skill e l'agente usati: la persona resta l'autore. L'esempio di autore è fittizio.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controllo è la differenza tra una wiki condivisa qualsiasi e uno strumento adatto all'azienda. Le due decisioni di prodotto sono documentate con i criteri per riaprirle: non sono limiti tecnici dimenticati, sono scelte sulla sicurezza dei dati e sulla fiducia.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dashboard è un servizio Python locale con interfaccia nel browser, esposto solo su loopback. Serve a chi non vuole usare la riga di comando: consultare il grafo, correggere relazioni e convenzioni con anteprima, gestire pubblicazione, conflitti e ricezione.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L'evoluzione in tre fasi. Prima il motore (grafo, recall, memoria, lacune, tre client). Poi il passaggio al lavoro di squadra, con contratti dati, dashboard e collaborazione Git controllata, verificata con CI su tre sistemi e collaudi reali. Infine l'integrazione ICM: istruzioni come contratti verificabili e pipeline che producono documenti.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L'Interpretable Context Methodology tratta le istruzioni come file strutturati e leggibili. Dall'analisi ho adottato la disciplina dei contratti e il ciclo 'correggere la fonte', non le cartelle di fase nella wiki, incompatibili con il grafo. contratti.py valida skill e fasi; un test impedisce che le istruzioni duplicate per i tre client divergano; correzioni.py legge la storia Git e riconosce gli errori ricorrenti.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lavorazioni rispondono a una domanda pratica: ora che la conoscenza è nella wiki, come produco documenti? La raccolta la fa lo script, non il modello, così ogni output è riconducibile alle pagine e alla loro versione. Quando una pagina cambia, stato segna DA RIFARE. Il risultato entra nella wiki solo come nuova fonte, seguito da un ingest.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metodo ECC applicato al retrieval: una variante per ipotesi, gate di correttezza obbligatori, holdout per evitare l'overfitting, promozione solo con zero domande peggiorate. Ha vinto il ripiego a cascata: da 88 a 102 pagine attese su 134. La lezione: il collo di bottiglia è il vocabolario delle persone, quindi le leve sono alias e relazioni. 849 test verificati sul branch attuale.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documento del progetto distingue ciò che è provato da ciò che è proposta. Il comportamento del modello con le skill riscritte non è testabile automaticamente senza un client autenticato: è il prossimo gate. Gli altri punti dipendono dall'uso reale in azienda.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d'uso per cui ho ideato Teseo. La differenza rispetto a un documento di consegna tradizionale: è il vault a chiedere a chi lascia ciò che manca, e chi subentra trova risposte navigabili e citate, con le incertezze dichiarate. Il vault non si chiude con la consegna: continua a crescere.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modello si applica a qualunque contesto in cui la conoscenza è distribuita tra documenti e persone. Il vocabolario delle relazioni si adatta al dominio: ad esempio la relazione causa per gli incidenti IT, sostituisce per i prodotti, referente per l'escalation.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un'adozione aziendale contano controllo, assenza di lock-in, adattabilità e tracciabilità. La nota in basso è importante per IT e privacy: Teseo è locale, ma il modello AI riceve i contenuti che legge secondo la configurazione del client scelto.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consiglio è partire da un pilota reale: un progetto in cui c'è davvero un passaggio di consegne. Dopo installazione e adattamento dello schema, il valore arriva dal ciclo lint-lacune con chi lascia. Si misura con domande vere e si apre alla squadra solo dopo.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messaggi da portare via: il grafo orienta, il vault chiede, la condivisione è controllata. La guida completa nel repository contiene tutti i diagrammi e i dettagli tecnici per approfondire.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D7E6E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Teseo · concetto, funzionamento, evoluzione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6E2"/>
                </a:solidFill>
              </a:rPr>
              <a:t>Trova la strada nel labirinto dei documenti aziendali.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7E6E2"/>
                </a:solidFill>
              </a:rPr>
              <a:t>Concetto, funzionamento, evoluzione e casi d'uso.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C3BB"/>
                </a:solidFill>
              </a:rPr>
              <a:t>Passaggi di consegna · documentazione condivisa · controllo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9601200" y="1097280"/>
            <a:ext cx="1188720" cy="146304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2560320"/>
            <a:ext cx="1737360" cy="54864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149840" y="3108960"/>
            <a:ext cx="1188720" cy="109728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3474720"/>
            <a:ext cx="822960" cy="173736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961120" y="4206240"/>
            <a:ext cx="1188720" cy="100584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1097280"/>
            <a:ext cx="548640" cy="2011680"/>
          </a:xfrm>
          <a:prstGeom prst="line">
            <a:avLst/>
          </a:prstGeom>
          <a:noFill/>
          <a:ln w="15875">
            <a:solidFill>
              <a:srgbClr val="3D5C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1371600"/>
            <a:ext cx="1188720" cy="118872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8138160" y="2560320"/>
            <a:ext cx="1463040" cy="9144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474720"/>
            <a:ext cx="2011680" cy="73152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9840" y="4206240"/>
            <a:ext cx="1005840" cy="109728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91440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3774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0" y="292608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2918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402336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502920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51206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PERCORSO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cosa parliamo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1783080"/>
            <a:ext cx="914" cy="40233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536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e l'idea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8366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Passaggi di consegna, la metafora, il pattern LLM Wiki e i suoi limiti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450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79806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Vault, ciclo di vita, grafo, recall, memoria, lacune, tre client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364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Casistiche e controllo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71246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Casi difficili, collaborazione con Git, sicurezza, dashboard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2793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evolve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62686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Timeline, metodo ICM, lavorazioni, qualità misurata, cosa resta aperto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193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d'uso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554126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Consegne, onboarding, IT, progetti, audit; come adottarlo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lascia un progetto porta via la conoscenza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Nei passaggi di consegna la conoscenza utile è sparsa tra call, manuali, mail, ticket e appunti. E soprattutto nella testa di chi ci ha lavorato.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 subentra non sa da dove iniziare, a chi chiedere, né quale versione dei fatti è quella vera.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554480"/>
            <a:ext cx="32004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0" y="18288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2120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Conoscenza dispersa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Documenti eterogenei in posti diversi, senza un punto d'ingresso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66760" y="1554480"/>
            <a:ext cx="32004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8641080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410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Conoscenza tacita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6410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Chi chiamare, perché si fa così, le eccezioni: mai scritto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37760" y="3886200"/>
            <a:ext cx="32004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5212080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43205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Documenti obsoleti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Versioni in contraddizione, nessuno sa quale è vera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366760" y="3886200"/>
            <a:ext cx="32004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8641080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43205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4108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Nessuna tracciabilità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64108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 quale fonte viene un'informazione? Chi l'ha cambiata?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L'OBIETTIVO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Raccogliere, interrogare, condividere con controllo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8516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Raccogliere facilmente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copiano i documenti grezzi in una cartella. L'assistente li distilla in pagine collegate, una per sistema, processo, persona, concetto.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6002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8516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Interrogare con le fonti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33375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Chi subentra chiede in linguaggio naturale. Le risposte citano le fonti e mostrano contraddizioni e lacune invece di nasconderle.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326880" y="16002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18516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Condividere con controllo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33375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repository dati condiviso, adattabile al dominio, con conferme esplicite, revisione dei conflitti e storia di chi ha scritto cosa.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Principio guida: Markdown è l'autorità, il modello non inventa, l'umano decide.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NOME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labirinto, Teseo e il filo di Arianna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3120" y="2377440"/>
            <a:ext cx="795528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691640"/>
            <a:ext cx="1371600" cy="1371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0345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L'insieme dei documenti di un progetto: call, manuali, verbali, mail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94960" y="1691640"/>
            <a:ext cx="1371600" cy="1371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0345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3794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L'assistente AI (Claude Code, Codex o Copilot) che lo esplora per te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72600" y="169164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03454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2104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filo di Arianna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3794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Il grafo delle relazioni tra le pagine: orienta l'assistente e riporta alle fonti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Teseo non risponde «a memoria»: segue il filo, legge le pagine e cita da dove viene ogni fatto.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PUNTO DI PARTENZA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pattern LLM Wiki di Andrej Karpathy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11430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Raw sources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Trascrizioni, manuali, PDF, appunti. Immutabili.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85216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Wiki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172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Pagine Markdown atomiche scritte e mantenute dall'LLM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852160" cy="1143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Schema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590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 reference.md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Convenzioni, indice, cronologia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6002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L'idea: invece di cercare nei documenti originali a ogni domanda, il modello mantiene una wiki distillata che diventa la base delle risposte.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operazioni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356616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fonte nuova diventa pagine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297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Query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interroga la wiki, non i raw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50292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wiki si controlla e si ripulisce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COME L'HO ADATTATO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 punti deboli del pattern ai rafforzamenti di Teseo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Limite del pattern originale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Rafforzamento in Teseo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Il modello deve trovare da solo le pagine (grep, elenco file)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Grafo tipizzato + recall automatico iniettato dagli hook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 link dicono «collegato», non come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Vocabolario di relazioni (usa, richiede, referente, causa…) controllato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Il sistema non impara dalle domande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Memoria delle pagine effettivamente lette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Lacune e contraddizioni restano invisibili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Domande aperte all'autore, una alla volta; contraddizioni registrate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Qualità non misurabile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--check deterministico, banco di prova, KPI del recall, 849 test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Monoutente e legato a un client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Repository dati Git condiviso; Claude Code, Codex e Copilot CLI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Istruzioni lunghe e opache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Contratti ICM validati (Input, Processo, Checkpoint, Verifica, Output)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wiki serve solo a rispondere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Lavorazioni: report e schede derivati, verificati e tracciati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PANORAMICA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L'architettura in una pagina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Fonti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raw/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1752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Wiki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wiki/*.md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Grafo SQLite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+ testo FTS5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Hook di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recall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Client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2286000"/>
            <a:ext cx="73152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286000" y="1929384"/>
            <a:ext cx="73152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ingest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73152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754880" y="1929384"/>
            <a:ext cx="73152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2286000"/>
            <a:ext cx="73152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75520" y="2286000"/>
            <a:ext cx="1828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835640" y="2743200"/>
            <a:ext cx="914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886200" y="3383280"/>
            <a:ext cx="694944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886200" y="2743200"/>
            <a:ext cx="914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349240" y="3255264"/>
            <a:ext cx="18288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legge le pagine e cita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06908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memoria.sqlite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letture apprese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406908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domande.sqlite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lacune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6446520" y="2743200"/>
            <a:ext cx="2057400" cy="13258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06840" y="2743200"/>
            <a:ext cx="914" cy="13258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4206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Wiki reference.md · index.md · log.md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schema, indice, cronologia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4023360" y="2743200"/>
            <a:ext cx="1737360" cy="13258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058400" y="4069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Repository dati Git (facoltativo): pull prima e push dopo ogni skill · integrazione isolata · autori e trailer Teseo-Skill / Teseo-Agent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ANATOMIA DI UN VAULT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cartella, file di testo, regole chiare su chi comanda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MioVault/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raw/               fonti, immutabili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wiki/              pagine con frontmatter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Wiki reference.md  schema e vocabolario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index.md           indice e punti aperti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log.md             cronologia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lavorazioni/       documenti derivati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.graph/            script, grafo, memoria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.teseo/            manifest, journal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.claude/ .codex/ .github/   client 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CLAUDE.md  AGENTS.md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5029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8288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Autorità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raw/, wiki/, Wiki reference.md, index.md: i file di testo comandano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0" y="3063240"/>
            <a:ext cx="5029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33832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566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724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Derivati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3566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grafo si ricostruisce sempre dalle pagine; a generazioni immutabili nei vault gestiti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583680" y="4617720"/>
            <a:ext cx="5029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12280" y="4937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120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Storia personale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0" y="5120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memoria.sqlite e domande.sqlite non si ricostruiscono: si salvano con backup_personal.py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CICLO DI VITA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Ingest, lint, lacune: una wiki che migliora da sola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97480" y="2834640"/>
            <a:ext cx="1828800" cy="1828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697480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Wiki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 fonti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5780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0360" y="53035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LACUNE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1463040" cy="16916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4343400" y="4069080"/>
            <a:ext cx="1463040" cy="14630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1417320" y="4069080"/>
            <a:ext cx="1463040" cy="14630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1417320" y="1737360"/>
            <a:ext cx="1463040" cy="1691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766560" y="1600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Ingest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fonte → pagine atomiche, relazioni, index e log; chiude con build_graph.py --check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6243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Lint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9443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duplicati, orfane, link rotti, relazioni mancanti, pagine di sintesi, correzioni ricorrenti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6484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Lacune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9684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domande che solo l'autore può chiudere, una alla volta; risposte come [nota-utente]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6725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Query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9926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risposta dalle pagine verificate, con citazioni; se manca, propone la pagina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Cadenza: lint dopo ogni ingest · lacune ogni settimana (10-15 domande) · lint completo ogni due settimane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INGEST NEL DETTAGLIO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fonte alle pagine, con un piano correggibile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Sincronizza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teseo_git.py pre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Legge lo schema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Wiki reference.md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Legge la fonte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 intero, con i timestamp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164592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Piano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pagine, relazioni, alias, contraddizioni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3-5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Distilla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pagine atomiche, 10-15 aggiornate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6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build_graph.py --check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07040" y="164592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607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7-9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Indice e log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poi teseo_git.py post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Il piano di ingest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3434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 una fonte importante la skill scrive lavorazioni/_ingest/&lt;fonte&gt;-piano.md e si ferma.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L'utente lo corregge (anche in Obsidian); piano.py controlla fonte, pagine, vocabolario, alias.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Correggere un file costa meno che correggere quindici pagine.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794760"/>
            <a:ext cx="5303520" cy="2286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39319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processo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fonti: [call-2026-09-10]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usa: "[[Console di rilascio]]"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Ogni rilascio passa dalla [[Console di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rilascio]] [call-2026-09-10].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da verificare: mercoledì o venerdì?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FILO DI ARIANNA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grafo: pagine collegate da relazioni con un significato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2121408"/>
            <a:ext cx="82296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400300" y="1993392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usa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121408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052060" y="1993392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parte_di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514600"/>
            <a:ext cx="914" cy="5943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26180" y="2683764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richiede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2377440" y="3493008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400300" y="3364992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usa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>
            <a:off x="2377440" y="3886200"/>
            <a:ext cx="822960" cy="59436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400300" y="4055364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referente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6766560" y="2514600"/>
            <a:ext cx="914" cy="1965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377940" y="3369564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parte_di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2377440" y="4864608"/>
            <a:ext cx="34747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726180" y="4736592"/>
            <a:ext cx="777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referente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1737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Rilascio in produzione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processo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1737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Console di rilascio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sistema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17373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Gestionale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sistema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1089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Incident settimanale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processo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ServiceDesk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sistema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Anna Rossi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persona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448056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Modulo fatture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sistema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Vocabolario delle relazioni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0116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parte_di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20116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componente o fase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24140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funziona tramite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28163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richiede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8163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non parte senza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32186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32186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viene prima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36210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966960" y="36210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provoca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023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referente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966960" y="4023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chi rivolgersi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4425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variante_di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4425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 particolare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4828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sostituisce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4828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prende il posto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52303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riguarda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 per oggetto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138160" y="56327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da_non_confondere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966960" y="56327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simili ma diversi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In rosso il percorso che risponde a «cosa serve per il rilascio e chi me lo dà?»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 RECALL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domanda al contesto: sei passi deterministici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Semi per nome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214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Nomi, alias e grafie citati; le parole comuni contano solo con la maiuscola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Semi per titolo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1214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Parole del titolo confrontate per radice: «rilasciare» trova «Rilascio»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Cammino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844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relazioni tipizzate dopo il 1° passo: 3 passi avanti, 2 indietro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301752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3200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Potatura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35844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3+ «fratelli» diventano un fatto; ciò che resta fuori è dichiarato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Memoria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047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Pagine lette in passato per domande simili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34840" y="448056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46634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177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Ripiego sul testo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5047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se mancano semi: FTS5 per radici e date, in due giri, «aggancio debole»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410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Garanzie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21945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7E6E2"/>
                </a:solidFill>
              </a:rPr>
              <a:t>Conta solo il testo scritto dall'utente: niente incollati né sub-agent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7E6E2"/>
                </a:solidFill>
              </a:rPr>
              <a:t>Contesto di circa 600 token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7E6E2"/>
                </a:solidFill>
              </a:rPr>
              <a:t>Nessun seme: l'assistente cerca in wiki/ e non risponde dalla conoscenza generale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7E6E2"/>
                </a:solidFill>
              </a:rPr>
              <a:t>Grafo ricostruito se una pagina è più recente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ESEMPIO REALE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domanda, una catena, una contraddizione visibile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«Devo fare un rilascio in produzione: cosa mi serve e chi me lo dà?»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6492240" cy="3611880"/>
          </a:xfrm>
          <a:prstGeom prst="roundRect">
            <a:avLst>
              <a:gd name="adj" fmla="val 2025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C3BB"/>
                </a:solidFill>
              </a:rPr>
              <a:t>Uscita reale di recall.py sul vault d'esempio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6126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 grafo della wiki (5 fatti):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Rilascio in produzione [processo]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Rilascio in produzione → usa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 di rilascio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Console di rilascio → parte_di → Gestionale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Console di rilascio → richiede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 settimanale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Incident settimanale → usa → ServiceDesk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Incident settimanale → referente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Anna Rossi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 cosa ne fa l'assistente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06640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0" y="305181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46720" y="2926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Legge le 4 pagine della catena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640" y="37033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0" y="382905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4672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Risponde: serve la console, che richiede l'incident settimanale, generato da Anna Rossi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406640" y="44805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0" y="46062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4480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Riporta la contraddizione: mercoledì nel manuale, venerdì nella call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406640" y="52578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0" y="538353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46720" y="5257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Cita [call-2026-09-10] e il manuale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LA MEMORIA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Impara solo da ciò che è stato davvero letto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Domanda che il grafo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 riconosce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Letture confermate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nel turno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Fine turno: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consolida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24688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domanda → pagine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(memoria.sqlite)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0" y="1737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Domanda simile: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nuovi semi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0" y="32004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Ricorrente: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promuovere ad alias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240280"/>
            <a:ext cx="73152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926080" y="3200400"/>
            <a:ext cx="73152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2971800"/>
            <a:ext cx="73152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778240" y="2240280"/>
            <a:ext cx="64008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3200400"/>
            <a:ext cx="64008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Lettura confermata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572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in Claude, view riuscita in Copilot, leggi.py con token di turno in Codex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572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Non è una lettura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572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risultato di grep, rg o glob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Non impara da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comandi, conferme, modifiche, domande sul sistema, sub-agent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5349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Diagnosi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memoria.py --turni confronta pagine suggerite e pagine lette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DOMANDE APERTE E LACUNE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vault sa dire che cosa non 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Quattro segnali calcolati dalle pagine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47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Punti aperti di index.md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2951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«Giorno di rilascio: mercoledì o venerdì?»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1135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935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Righe ⚠️ da verificare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2826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nomi tecnici trascritti in modo incerto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94106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10108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922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Senza referente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270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«Chi è il referente di Gestionale?»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928616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088636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4910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Sintesi scartate dal lint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5257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il vault non bastava a rispondere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182880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aperta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692640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rinviata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30 giorni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92640" y="338328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 decidere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309360" y="338328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chiusa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955280" y="2011680"/>
            <a:ext cx="17373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8183880" y="1655064"/>
            <a:ext cx="128016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non so ancora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 flipH="1">
            <a:off x="7955280" y="2331720"/>
            <a:ext cx="1737360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8366760" y="2432304"/>
            <a:ext cx="9144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scadenza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561320" y="2468880"/>
            <a:ext cx="914" cy="9144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0" name="Text 24"/>
          <p:cNvSpPr txBox="1"/>
          <p:nvPr/>
        </p:nvSpPr>
        <p:spPr>
          <a:xfrm>
            <a:off x="9966960" y="2798064"/>
            <a:ext cx="118872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dopo 3 rinvii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132320" y="2468880"/>
            <a:ext cx="914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6537960" y="2798064"/>
            <a:ext cx="118872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[nota-utente]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 flipH="1">
            <a:off x="7955280" y="3703320"/>
            <a:ext cx="17373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6309360" y="4434840"/>
            <a:ext cx="53035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49224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 più 3 domande per prompt, ognuna una sola volta per sessione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Il calcolo dalle pagine comanda: se il segnale sparisce, la domanda si chiude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Qui la conoscenza tacita diventa scritta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PAGINE PER ENTROPIA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risposte sparse diventano una pagina di sintesi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Rilascio in produzione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Console di rilascio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Incident settimanale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Prerequisiti del rilascio in produzione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tipo: riferimento · tag entropia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 flipV="1">
            <a:off x="3200400" y="2240280"/>
            <a:ext cx="1371600" cy="1280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3200400" y="3520440"/>
            <a:ext cx="137160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3200400" y="3520440"/>
            <a:ext cx="1371600" cy="1280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383280" y="2478024"/>
            <a:ext cx="10058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linka tutte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Regole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96596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Nasce solo da domande calcolate dal grafo (sintesi.py): catene, termini condivisi, referenti, memoria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Avviso in testa e un link a ogni pagina della risposta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Nessun fatto nuovo: se manca un pezzo non si scrive e diventa una lacuna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 si corregge a mano: si corregge la pagina d'origine e il lint la riscrive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sintesi.py --verifica controlla avviso, copertura e fonti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TRE CLIENT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Code, Codex e Copilot CLI sullo stesso vault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10896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Claude Code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Codex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Copilot CLI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Istruzioni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CLAUDE.md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AGENTS.md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.github/copilot-instructions.md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Hook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.claude/settings.json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.codex/hooks.json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.github/hooks/teseo.json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Eventi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(avvio, prompt, lettura, stop)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nativi + token di turno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nativi + misura dei tempi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Modello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Opus; domande puntuali a Haiku (@opus lo evita)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Ruoli Sol / Astra / Luna suggeriti; chiedi_codex.py li applica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Modello attivo di Copilot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Letture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leggi.py --turno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view riuscita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035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Intercambiabili: grafo e memoria sono gli stessi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29768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5303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8348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errore negli hook non blocca mai l'utente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04672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3035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3252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L'installatore non tocca account né permessi globali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GESTIONE DELLE CASISTICHE · MOTORE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caso difficile ha un comportamento dichiarato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Comportamento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 domanda non nomina nessuna pagina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Ripiego sul testo dichiarato «debole»; altrimenti: cerca in wiki/, non inventare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Domanda fuori tema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Nessun fatto: i casi negativi sono nel banco di prova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Frontmatter rotto, build fallito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 usa il grafo precedente e lo si dichiara a utente e modello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Recall in errore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Istruzioni di ricerca; mai affidare a un modello leggero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Contraddizione tra fonti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Registrata nella pagina e nei punti aperti, chiesta all'autore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Nome incerto da trascrizione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⚠️ da verificare finché una fonte scritta non conferma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Fonte sbagliata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raw/ non si modifica: nota-utente o nuova fonte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Client senza hook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Recall esplicito dalla skill query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GESTIONE DELLE CASISTICHE · SQUADRA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si lavora in più persone sullo stesso vault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Comportamento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Rete assente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Inizio: prosegue offline (exit 3). Fine: commit locale, poi riprendi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Modifiche locali non pubblicate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 ferma (exit 2) e spiega come pubblicarle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Stessa nota modificata da due persone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Pubblicazione fermata; risoluzione con revisione dalla dashboard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Note collegate modificate in parallelo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Fermata anche su file diversi: i fatti possono essere incompatibili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Aggiunte concorrenti a log.md e index.md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Unite in automatico se entrambi i lati aggiungono soltanto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PDF e fonti binarie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Restano locali; si condivide il testo distillato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Obsidian aperto durante un apply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Solo con conferma e editor sospesi; conflitto esplicito se scrive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Branch protetto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Modalità PR: apertura e merge restano manuali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COLLABORAZIONE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dati condiviso: pull prima, push dopo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installa.py "VAULT" --collabora https://github.com/organizzazione/vault-dati.git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fetch · fast-forward · ricostruisce il grafo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3017520"/>
            <a:ext cx="4572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228600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ingest, lint o lacune fino a --check pulito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3017520"/>
            <a:ext cx="4572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28600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checkpoint dei file attribuiti · integrazione isolata · validazione · push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Codici di uscita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procedi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074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fermati: serve una persona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623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623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offline: lavoro conservato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4069080"/>
            <a:ext cx="61264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1500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Ogni commit dice chi, con cosa e perché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46177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Autore: Mario Bianchi &lt;mario@azienda.it&gt;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Teseo-Skill: ingest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Teseo-Agent: claude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qui: autori di ogni nota nella dashboard e correzioni ricorrenti riconosciute da correzioni.py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CONTROLLO E SICUREZZA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Automatico solo dove le regole sono deterministiche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fonti in raw/ non si toccano: si può solo aggiungere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2631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Build, validazione e pubblicazione separati: vince l'ultima versione valida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9032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Integrazione in area isolata, mai nel vault vivo; solo fast-forward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5433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429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Nessuno stash, reset, force push o commit indiscriminato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18338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Allowlist dei percorsi e scansione dei segreti prima del push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482346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8872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dati ricevuti non attivano script o hook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5463540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Opt-in: senza --collabora nulla si pubblica da solo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675120" y="1508760"/>
            <a:ext cx="493776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6903720" y="1645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DECISIONE DI PRODOTTO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6903720" y="1920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Niente apply automatico delle note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6903720" y="2377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</a:rPr>
              <a:t>Nessun sistema impedisce davvero a un editor di scrivere nello stesso istante: si rischierebbero modifiche non salvate. Pull e push restano automatici; le scritture delle note chiedono conferma.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675120" y="3840480"/>
            <a:ext cx="493776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690372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DECISIONE DI PRODOTTO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690372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Lavorazioni non condivise nel repository dati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6903720" y="4709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2"/>
                </a:solidFill>
              </a:rPr>
              <a:t>Una pagina è un fatto da verificare, un contratto è un ordine per il modello: condividerli darebbe a chiunque scriva sul remoto un modo per istruire il modello di tutti.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DASHBOARD LOCALE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Consultare, correggere e pubblicare dal browser</a:t>
            </a:r>
            <a:endParaRPr lang="en-US" sz="3200" dirty="0"/>
          </a:p>
        </p:txBody>
      </p:sp>
      <p:pic>
        <p:nvPicPr>
          <p:cNvPr id="4" name="Image 0" descr="Dashboard di Teseo: consultazione del grafo del vault d'esemp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58368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5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Schermata reale della consultazione sul vault di prova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Grafo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801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forze, fino a 2000 nodi, filtri per tipo, relazione e autore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221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Ontologia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514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vocabolario con anteprima, impatto e migrazioni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935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Editor del grafo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227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relazioni, alias, tag, pagine: anteprima → conferma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3648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Pubblicazione Git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941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preview, push, modalità PR, conflitti, autosync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4361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Ricezione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46542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novità remote in un candidato isolato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5074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Lavorazioni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5367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stato delle pipeline, in sola lettura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5852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Solo su loopback, con sessione e CSRF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EVOLUZIONE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pattern al motore, al gruppo, al lavoro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6424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19 ott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Primo kit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ingest, query, lint, lacune; grafo, recall, memoria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9192" y="281635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 ott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Tre client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Code, Codex, Copilot CLI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9392" y="2816352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22-26 ott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Fondamenta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216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contratti dati, dashboard, ontologia, pubblicazione, ricezione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9592" y="2816352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27 ott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Retrieval ECC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ripiego a cascata: 88 → 102 pagine su 134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79792" y="2816352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28 ott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Squadra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autosync, autori da Git, causa, editor del grafo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9992" y="2816352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29 ott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Collaudo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222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 su 3 sistemi, GitHub reale, autenticazione, PR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80192" y="281635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041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30 ott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ICM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22408" y="374904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contratti, lavorazioni, correzioni come segnale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· Dal pattern al motore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297680" y="534924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· Dal singolo al gruppo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534924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· Dalle risposte al lavoro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Ottobre 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METODO ICM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diventano contratti verificabili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file e sezioni da leggere, e perché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103120"/>
            <a:ext cx="256032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16352" y="155448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Processo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passi numerati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28032" y="2103120"/>
            <a:ext cx="256032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84064" y="155448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Checkpoint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dove si ferma, cosa decide l'utente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95744" y="2103120"/>
            <a:ext cx="256032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51776" y="155448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Verifica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comandi e criteri deterministici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63456" y="2103120"/>
            <a:ext cx="256032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19488" y="155448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artefatti, posizione, formato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contesto dello schema per query e lacune (3.089 vs 4.410 token)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063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−81%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una query che non archivia (839 token)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063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 su ≥ 2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correzioni manuali dello stesso tipo su pagine diverse: proposta di cambiare schema o skill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«Correggere la fonte, non l'output»: se le persone correggono sempre lo stesso tipo di errore, si cambia l'istruzione che lo produce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LAVORAZIONI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wiki ai documenti, tracciati alla fonte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Raccolta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script, deterministica, impronte SHA-256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2240280"/>
            <a:ext cx="228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2316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Sintesi / scaletta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modello, sul contratto di fase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69080" y="2240280"/>
            <a:ext cx="228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9768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Checkpoint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l'utente corregge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240280"/>
            <a:ext cx="228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7220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Revisione / stesura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modello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2240280"/>
            <a:ext cx="228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4672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verifica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link, fonti, segnaposto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92640" y="2240280"/>
            <a:ext cx="22860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921240" y="164592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promuovi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nuova fonte in raw/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6132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371600" y="3246120"/>
            <a:ext cx="9189720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37160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206240" y="3118104"/>
            <a:ext cx="347472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ingest: il risultato torna nella wiki come fonte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Stato di ogni fase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2062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 ATTESA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2062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 RIFARE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RIFARE se dopo l'output è cambiata una pagina raccolta, la configurazione, il contratto o un output a monte. Il motivo è sempre indicato.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Modelli inclusi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2062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report-periodico: pagine aggiornate nel periodo → sintesi per temi → revisione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scheda-argomento: sottografo di una pagina → scaletta → stesura → verifica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Non scrivono mai in wiki/; si condividono a mano con esporta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QUALITÀ MISURATA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modifica deve battere la baseline, senza peggioramenti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Promossa solo la variante con 0 domande peggiorate e gate tutti verdi (holdout pari/dispari)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80960" y="150876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600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superati, nessun modello chiamato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97180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0956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di CI su Linux, Windows e macOS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443484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9560" y="4526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5212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pagine attese portate dal recall (da 66%)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ONESTÀ SUI LIMITI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è verificato e cosa resta da provare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Verificato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Motore, contratti, raccolta e lavorazioni: 849 test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 su Linux, Windows, macOS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Collaudo con GitHub reale e due cloni (9 scenari)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Editor non cooperante con Obsidian reale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nel browser, desktop e mobile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Da provare / prossimi passi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Comportamento del modello con le skill riscritte (client AI autenticato)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Repository privato, branch protetto, SSH, due account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Snapshot selettivo per vault con molti PDF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Condivisione delle lavorazioni, se la squadra la chiede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Uso su vault collaborativi reali in azienda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CASO D'USO PRINCIPALE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passaggio di consegne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Chi lascia il progetto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 call, manuali, verbali in raw/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Ingest e lint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Risponde alle lacune: referenti, punti aperti, nomi da verificare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3200400"/>
            <a:ext cx="32004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150876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Il vault del progetto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94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Pagine con fonti e timestamp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Relazioni: chi, cosa serve, cosa viene prima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Contraddizioni e lacune esplicite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Storia: chi ha scritto cosa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3200400"/>
            <a:ext cx="32004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50876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Chi subentra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94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Chiede in linguaggio naturale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Riceve risposte citate e i punti aperti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Aggiunge ciò che impara: il vault resta vivo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Lacune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conoscenza tacita si scrive prima che la persona se ne vada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5166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referente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risponde a «a chi chiedo?»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5166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Fonti con timestamp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torna al punto esatto della call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CASI D'USO AZIENDALI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Ovunque la conoscenza vive in documenti e persone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risposte citate e schede per area per i nuovi colleghi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55848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584448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e service desk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prerequisiti, escalation al referente, cause degli incidenti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1656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8973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Progetti e decisioni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verbali e call → decisioni tracciate, report periodici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970264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9198864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18973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Consulenza e clienti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vault per commessa, consegna come documento derivato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Qualità e audit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fonti immutabili, citazioni puntuali, storia attribuita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355848" y="384048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3584448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2291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84448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Prodotto e rilasci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584448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componenti, sostituzioni, varianti, sintesi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163056" y="384048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5" name="Shape 27"/>
          <p:cNvSpPr/>
          <p:nvPr/>
        </p:nvSpPr>
        <p:spPr>
          <a:xfrm>
            <a:off x="6391656" y="4069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22910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91656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Pre-vendita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391656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risposte rapide con fonte, schede argomento verificate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970264" y="384048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0" name="Shape 31"/>
          <p:cNvSpPr/>
          <p:nvPr/>
        </p:nvSpPr>
        <p:spPr>
          <a:xfrm>
            <a:off x="9198864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229100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98864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Continuità operativa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198864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chi chiamare, cosa serve prima, cosa succede se manca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PERCHÉ È ADATTO ALL'AZIENDA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aziendali, risposte concrete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Dati sotto controllo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20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 locali; repository dati dell'azienda, anche privato; kit separato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177165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Nessun lock-in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1920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Markdown e SQLite; tre client AI intercambiabili; Obsidian facoltativo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14325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Adattabile al dominio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291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Relazioni, tipi e fonti in Wiki reference.md, modificabili dall'editor dell'ontologia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14325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Controllo delle modifiche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3291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Conferme esplicite, revisione dei conflitti, modalità PR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3434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51485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Tracciabilità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4663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Ogni fatto con la sua fonte; ogni modifica con persona, agente e operazione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172200" y="43434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4514850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Misurabilità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7040880" y="4663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 del recall, segnali di salute, domande aperte in calo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Da valutare con le policy aziendali: i contenuti letti dall'assistente possono essere inviati al provider del modello, secondo la configurazione del client AI.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ADOZIONE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percorso in sette passi, partendo da un pilota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82880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00784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Pilota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 progetto in passaggio di consegne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39696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Installa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installa.py --prova, poi sul vault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9936" y="182880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9936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82896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730752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Adatta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ambito, relazioni e tipi del dominio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50992" y="182880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50992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321808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Ingerisci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call, manuali, verbali; piano per le fonti chiave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42048" y="182880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42048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65008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912864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Ciclo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lint e lacune con chi lascia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33104" y="1828800"/>
            <a:ext cx="822960" cy="8229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3310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656064" y="2240280"/>
            <a:ext cx="768096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503920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Misura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 domande vere, baseline datata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424160" y="182880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41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94976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Squadra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0094976" y="320040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--collabora su repo privato, poi altri progetti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Segnali di salute da seguire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</a:rPr>
              <a:t>build_graph.py --check: nessun problema · domande aperte in calo · 0 da decidere · recall sul banco non in calo · memoria con sole domande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filo di Arianna per i tuoi progetti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5831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grafo che orienta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6E2"/>
                </a:solidFill>
              </a:rPr>
              <a:t>risposte che attraversano più documenti, sempre citate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5831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vault che chiede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6E2"/>
                </a:solidFill>
              </a:rPr>
              <a:t>le lacune portano la conoscenza tacita nelle pagine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138160" y="23774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25831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condivisione controllata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6E2"/>
                </a:solidFill>
              </a:rPr>
              <a:t>automatica dove le regole sono certe, umana dove serve giudizio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Domande?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3BB"/>
                </a:solidFill>
              </a:rPr>
              <a:t>Guida completa: doc/presentazione/guida-teseo.md · github.com/manuel-albanesee/Teseo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eo">
  <a:themeElements>
    <a:clrScheme name="Teseo">
      <a:dk1>
        <a:srgbClr val="16302B"/>
      </a:dk1>
      <a:lt1>
        <a:srgbClr val="FFFFFF"/>
      </a:lt1>
      <a:dk2>
        <a:srgbClr val="1F6F62"/>
      </a:dk2>
      <a:lt2>
        <a:srgbClr val="EEF4F2"/>
      </a:lt2>
      <a:accent1>
        <a:srgbClr val="1F6F62"/>
      </a:accent1>
      <a:accent2>
        <a:srgbClr val="C8323C"/>
      </a:accent2>
      <a:accent3>
        <a:srgbClr val="D9A441"/>
      </a:accent3>
      <a:accent4>
        <a:srgbClr val="4E7A9B"/>
      </a:accent4>
      <a:accent5>
        <a:srgbClr val="7A8B87"/>
      </a:accent5>
      <a:accent6>
        <a:srgbClr val="2E9C8A"/>
      </a:accent6>
      <a:hlink>
        <a:srgbClr val="1F6F62"/>
      </a:hlink>
      <a:folHlink>
        <a:srgbClr val="4E7A9B"/>
      </a:folHlink>
    </a:clrScheme>
    <a:fontScheme name="Tese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Teseo</dc:title>
  <dc:subject>Concetto, funzionamento, evoluzione e casi d'uso</dc:subject>
  <dc:creator>PptxGenJS</dc:creator>
  <cp:lastModifiedBy>PptxGenJS</cp:lastModifiedBy>
  <cp:revision>1</cp:revision>
  <dcterms:created xsi:type="dcterms:W3CDTF">2026-10-30T21:08:23Z</dcterms:created>
  <dcterms:modified xsi:type="dcterms:W3CDTF">2026-10-30T21:08:23Z</dcterms:modified>
</cp:coreProperties>
</file>