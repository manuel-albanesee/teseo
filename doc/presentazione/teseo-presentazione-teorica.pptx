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2edcc48-ce75-99d4-1204-6f23c0f6773a}">
          <p14:sldIdLst>
            <p14:sldId id="256"/>
          </p14:sldIdLst>
        </p14:section>
        <p14:section name="Il problema" id="{a02441cc-befe-308d-b9af-b032cbcbb004}">
          <p14:sldIdLst>
            <p14:sldId id="257"/>
            <p14:sldId id="258"/>
          </p14:sldIdLst>
        </p14:section>
        <p14:section name="L'idea" id="{6d4156f5-94d2-4f06-47b1-2430ab55010e}">
          <p14:sldIdLst>
            <p14:sldId id="259"/>
            <p14:sldId id="260"/>
            <p14:sldId id="261"/>
            <p14:sldId id="262"/>
          </p14:sldIdLst>
        </p14:section>
        <p14:section name="Come ragiona" id="{18cde9c7-f9df-dad2-1cfb-e552c1679c00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Lavorare insieme" id="{f5b864e5-e1aa-e63d-7388-d50237b90448}">
          <p14:sldIdLst>
            <p14:sldId id="269"/>
            <p14:sldId id="270"/>
            <p14:sldId id="271"/>
          </p14:sldIdLst>
        </p14:section>
        <p14:section name="A cosa serve" id="{bb310bd2-107a-a2df-89c1-e53727ffdfda}">
          <p14:sldIdLst>
            <p14:sldId id="272"/>
            <p14:sldId id="273"/>
          </p14:sldIdLst>
        </p14:section>
        <p14:section name="Chiusura" id="{8508d6a5-a8fa-4163-71ba-25a9c1e4257d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versione teorica: spiega le idee su cui si basa Teseo, senza scendere nei dettagli tecnici. Per quelli c'è la presentazione tecnica e la guida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caratteristiche della conoscenza di progetto. La seconda è la più critica: la conoscenza tacita se ne va con la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cartelle conservano ma non spiegano. Le wiki manuali spiegano ma invecchiano. I chatbot che cercano nei documenti (RAG) rispondono, ma ripartono ogni volta dai documenti grezzi, non accumulano conoscenza e non segnalano lacune o contraddizioni.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Tutto il resto deriva da questa frase. La base è il pattern LLM Wiki di Andrej Karpathy; il grafo e il resto sono quello che ho aggiunto.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Senza il filo, l'assistente cerca alla cieca tra i file. Con il filo sa dove andare e come tornare alle fonti.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Fonti immutabili, wiki posseduta dall'AI, regole possedute dalla persona. Questa separazione permette di correggere senza perdere nulla.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Distillare significa scrivere pagine in stile enciclopedia: un concetto, un processo, una persona per pagina, non un riassunto lineare della call. Così una fonte nuova aggiorna le pagine esistenti invece di aggiungere un altro documento da leggere.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relazioni hanno un vocabolario preciso, adattabile al settore dell'azienda. È questo che permette di rispondere a domande che attraversano più documenti.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punto chiave è che l'AI non risponde dalla sua conoscenza generale: riceve le pagine giuste e risponde da lì, citando. Se il grafo non trova niente, l'AI è avvisata di cercare nelle pagine e di dirlo.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memoria associa domande e pagine effettivamente lette. Le domande ricorrenti si trasformano in sinonimi della pagina, così le trova direttamente il grafo.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domande nascono da quattro segnali: punti aperti, dati da verificare, sistemi senza referente, sintesi che la wiki non riesce a fare. È la funzione chiave per i passaggi di consegna.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Queste regole sono scritte nelle istruzioni dell'AI e controllate da script: per esempio un controllo automatico segnala ogni fonte citata ma non registrata.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Tecnicamente: ingest, lint, lacune, query. Il controllo chiude da solo ciò che la wiki già sa; all'autore arriva solo ciò che solo lui può dire.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vault si condivide in un archivio Git dell'azienda. Tutto è facoltativo e si attiva con un consenso esplicito. Ogni modifica pubblicata porta il nome della persona, l'assistente usato e l'operazione.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lavorazioni applicano il metodo ICM: istruzioni brevi e controllabili per ogni fase, con punti di controllo umano. Il documento non scrive mai direttamente nella wiki.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presentazione tecnica ha la cronologia giorno per giorno. Ogni fase è verificata da test automatici: oggi 849.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valore arriva dalle domande: è il vault a chiedere a chi lascia ciò che manca, prima che se ne vada.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ogni caso si adatta il vocabolario delle relazioni: per esempio «causa» per gli incidenti IT o «sostituisce» per i prodotti.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i dettagli tecnici: presentazione tecnica e guida completa in doc/presentazione/.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91840"/>
            <a:ext cx="67665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DCEAE6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2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Teseo · l'idea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463040"/>
            <a:ext cx="2743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88620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DCEAE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IUSUR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40080"/>
            <a:ext cx="108813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Teseo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9184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DCEAE6"/>
                </a:solidFill>
              </a:rPr>
              <a:t>L'idea alla base: trasformare i documenti di un progetto in conoscenza che si può interrogare, condividere e passare di mano.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95360" y="1463040"/>
            <a:ext cx="1097280" cy="118872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692640" y="1188720"/>
            <a:ext cx="1097280" cy="1463040"/>
          </a:xfrm>
          <a:prstGeom prst="line">
            <a:avLst/>
          </a:prstGeom>
          <a:noFill/>
          <a:ln w="19050">
            <a:solidFill>
              <a:srgbClr val="3D5C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651760"/>
            <a:ext cx="1645920" cy="548640"/>
          </a:xfrm>
          <a:prstGeom prst="line">
            <a:avLst/>
          </a:prstGeom>
          <a:noFill/>
          <a:ln w="19050">
            <a:solidFill>
              <a:srgbClr val="3D5C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8412480" y="2651760"/>
            <a:ext cx="1280160" cy="100584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3657600"/>
            <a:ext cx="1828800" cy="73152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0241280" y="3200400"/>
            <a:ext cx="1097280" cy="1188720"/>
          </a:xfrm>
          <a:prstGeom prst="line">
            <a:avLst/>
          </a:prstGeom>
          <a:noFill/>
          <a:ln w="19050">
            <a:solidFill>
              <a:srgbClr val="3D5C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0" y="4389120"/>
            <a:ext cx="914400" cy="1005840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0" y="3657600"/>
            <a:ext cx="731520" cy="1645920"/>
          </a:xfrm>
          <a:prstGeom prst="line">
            <a:avLst/>
          </a:prstGeom>
          <a:noFill/>
          <a:ln w="19050">
            <a:solidFill>
              <a:srgbClr val="3D5C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144000" y="4389120"/>
            <a:ext cx="1097280" cy="914400"/>
          </a:xfrm>
          <a:prstGeom prst="line">
            <a:avLst/>
          </a:prstGeom>
          <a:noFill/>
          <a:ln w="19050">
            <a:solidFill>
              <a:srgbClr val="3D5C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9920" y="1188720"/>
            <a:ext cx="548640" cy="2011680"/>
          </a:xfrm>
          <a:prstGeom prst="line">
            <a:avLst/>
          </a:prstGeom>
          <a:noFill/>
          <a:ln w="19050">
            <a:solidFill>
              <a:srgbClr val="3D5C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28016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1005840"/>
            <a:ext cx="365760" cy="36576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0" y="246888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55680" y="3017520"/>
            <a:ext cx="365760" cy="36576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347472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0" y="420624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0" y="5120640"/>
            <a:ext cx="365760" cy="36576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0" y="5212080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IL PROBLEMA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lascia un progetto porta via ciò che sa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Nei passaggi di consegna la conoscenza c'è, ma non si riesce a trasmetterla.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05200" cy="365760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2316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2631643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47472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È sparsa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389120"/>
            <a:ext cx="286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Call, manuali, mail e ticket stanno in posti diversi.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328160" y="2103120"/>
            <a:ext cx="3505200" cy="365760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4648200" y="24231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683" y="2631643"/>
            <a:ext cx="451714" cy="45171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48200" y="347472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È nella testa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648200" y="4389120"/>
            <a:ext cx="286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Chi chiamare, le eccezioni, il perché delle scelte: non è scritto.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8107680" y="2103120"/>
            <a:ext cx="3505200" cy="365760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8427720" y="242316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203" y="2631643"/>
            <a:ext cx="451714" cy="45171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27720" y="347472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Invecchia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427720" y="4389120"/>
            <a:ext cx="286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Documenti diversi dicono cose diverse e nessuno sa quale è vero.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IL PROBLEMA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i metodi soliti non bastano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Ognuno risolve una parte del problema, nessuno lo risolve tutto.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05200" cy="365760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2316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2631643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47472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Cartelle condivise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389120"/>
            <a:ext cx="286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Trovi i file, non le risposte.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328160" y="2103120"/>
            <a:ext cx="3505200" cy="365760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4648200" y="242316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683" y="2631643"/>
            <a:ext cx="451714" cy="45171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48200" y="347472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Wiki scritte a mano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648200" y="4389120"/>
            <a:ext cx="286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Costano fatica e smettono presto di essere aggiornate.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8107680" y="2103120"/>
            <a:ext cx="3505200" cy="365760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8427720" y="242316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203" y="2631643"/>
            <a:ext cx="451714" cy="45171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27720" y="347472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sui documenti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427720" y="4389120"/>
            <a:ext cx="286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Risponde ogni volta da zero: non ricorda e non dice cosa manca.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L'IDEA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L'idea in una frase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10149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 costruire all'AI una wiki ordinata a partire dai documenti, collegarne le pagine con un grafo e rispondere solo da lì, citando le fonti.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120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La wiki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532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conoscenza ordinata, non documenti grezzi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5120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Il grafo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5532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collegamenti con un significato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5120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Le fonti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5532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ogni risposta si può verificare</a:t>
            </a:r>
            <a:endParaRPr lang="en-US" sz="2000" dirty="0"/>
          </a:p>
        </p:txBody>
      </p:sp>
      <p:sp>
        <p:nvSpPr>
          <p:cNvPr id="13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IL NOME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labirinto, Teseo e il filo di Arianna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La metafora del mito descrive i tre pezzi del sistema.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40280" y="2788920"/>
            <a:ext cx="7680960" cy="914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057400"/>
            <a:ext cx="1463040" cy="14630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9890" y="2408530"/>
            <a:ext cx="760781" cy="76078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749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labirinto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297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 documenti del progetto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349240" y="2057400"/>
            <a:ext cx="1463040" cy="14630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370" y="2408530"/>
            <a:ext cx="760781" cy="76078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97680" y="3749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Teseo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4297680" y="4297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l'assistente AI che lo esplora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9189720" y="2057400"/>
            <a:ext cx="1463040" cy="14630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0850" y="2408530"/>
            <a:ext cx="760781" cy="76078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38160" y="3749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filo di Arianna</a:t>
            </a:r>
            <a:endParaRPr lang="en-US" sz="2600" dirty="0"/>
          </a:p>
        </p:txBody>
      </p:sp>
      <p:sp>
        <p:nvSpPr>
          <p:cNvPr id="17" name="Text 12"/>
          <p:cNvSpPr txBox="1"/>
          <p:nvPr/>
        </p:nvSpPr>
        <p:spPr>
          <a:xfrm>
            <a:off x="8138160" y="4297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 collegamenti tra le pagine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i="1" dirty="0">
                <a:solidFill>
                  <a:schemeClr val="tx2"/>
                </a:solidFill>
              </a:rPr>
              <a:t>Teseo non risponde a memoria: segue il filo e cita le fonti.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L'IDEA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livelli, tre regole diverse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Separare i documenti originali dalla conoscenza che se ne ricava.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200400" cy="2743200"/>
          </a:xfrm>
          <a:prstGeom prst="roundRect">
            <a:avLst>
              <a:gd name="adj" fmla="val 3333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31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Fonti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i documenti originali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40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non si toccano mai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480560" y="2103120"/>
            <a:ext cx="3200400" cy="27432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2331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Wiki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3017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pagine brevi e collegate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840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le scrive e aggiorna l'AI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412480" y="2103120"/>
            <a:ext cx="3200400" cy="274320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32520" y="2331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Regole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30175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come si scrivono le pagine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732520" y="3840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le decide la persona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3794760" y="3474720"/>
            <a:ext cx="640080" cy="914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7726680" y="3474720"/>
            <a:ext cx="640080" cy="914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48640" y="5257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Se la wiki sbaglia, si torna alla fonte. Se un errore si ripete, si cambiano le regole.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L'IDEA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Distillare, non copiare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Un documento lungo diventa poche pagine, una per argomento. Ogni frase porta la sua fonte.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3291840" cy="3108960"/>
          </a:xfrm>
          <a:prstGeom prst="roundRect">
            <a:avLst>
              <a:gd name="adj" fmla="val 2353"/>
            </a:avLst>
          </a:prstGeom>
          <a:solidFill>
            <a:schemeClr val="accent4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Call del 10 settembre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un'ora di registrazione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0" y="2011680"/>
            <a:ext cx="42976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Rilascio in produzione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 flipV="1">
            <a:off x="3931920" y="2395728"/>
            <a:ext cx="3291840" cy="144475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315200" y="2971800"/>
            <a:ext cx="42976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Console di rilascio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 flipV="1">
            <a:off x="3931920" y="3355848"/>
            <a:ext cx="3291840" cy="48463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315200" y="3931920"/>
            <a:ext cx="42976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Incident settimanale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3931920" y="3840480"/>
            <a:ext cx="3291840" cy="47548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315200" y="4892040"/>
            <a:ext cx="42976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Anna Rossi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3931920" y="3840480"/>
            <a:ext cx="3291840" cy="143560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20624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distilla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IL FILO DI ARIANNA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collegamenti hanno un significato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Non solo «collegato a», ma «usa», «richiede», «chi è il referente».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224028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Rilascio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834640" y="2903220"/>
            <a:ext cx="612648" cy="914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2500884" y="1920240"/>
            <a:ext cx="1280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usa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93008" y="2377440"/>
            <a:ext cx="224028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Console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779008" y="2903220"/>
            <a:ext cx="612648" cy="914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445252" y="1920240"/>
            <a:ext cx="1280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richiede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37376" y="2377440"/>
            <a:ext cx="224028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Incident settimanale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723376" y="2903220"/>
            <a:ext cx="612648" cy="914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8389620" y="1920240"/>
            <a:ext cx="128016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referente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381744" y="2377440"/>
            <a:ext cx="224028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Anna Rossi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Domanda: «cosa mi serve per il rilascio e chi me lo dà?»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805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Seguendo il filo si arriva alla console, al suo prerequisito e alla persona da chiamare, anche se la domanda nomina solo il rilascio.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UNA RISPOSTA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nasce una risposta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Quattro passi. I primi due li fa Teseo senza AI; gli ultimi due l'assistente.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03020" y="21945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030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217420" y="2606040"/>
            <a:ext cx="190500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548640" y="32461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Fai una domanda a parole tue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213860" y="21945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1386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128260" y="2606040"/>
            <a:ext cx="190500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3459480" y="32461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Teseo trova le pagine collegate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124700" y="219456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247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039100" y="2606040"/>
            <a:ext cx="190500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370320" y="32461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L'AI legge quelle pagine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035540" y="219456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3554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2461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Risponde citando fonti e dubbi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48640" y="512064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Se non trova nulla lo dice: non risponde a memoria.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UN SISTEMA CHE IMPARA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Ricorda cosa è servito davvero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Quando una domanda non nomina le pagine, la memoria impara il linguaggio delle persone.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32004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Domanda con parole «strane»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794760" y="2880360"/>
            <a:ext cx="640080" cy="914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480560" y="2194560"/>
            <a:ext cx="32004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Le pagine che l'AI legge davvero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26680" y="2880360"/>
            <a:ext cx="640080" cy="914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412480" y="2194560"/>
            <a:ext cx="320040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Domanda simile: si parte da lì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233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Esempio: «il sistemino che cerca gli errori» non è il nome di nessuna pagina. Dopo la prima volta, Teseo sa a quale pagina si riferisce.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Impara solo da letture vere, mai da una semplice ricerca di parole.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UN SISTEMA CHE CHIEDE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 dire che cosa non sa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Teseo calcola cosa manca nella wiki e lo chiede a chi lo sa, una domanda alla volta.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64008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«Chi è il referente del Gestionale?»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3017520"/>
            <a:ext cx="640080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«Il rilascio è il mercoledì o il venerdì?»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71600" y="3977640"/>
            <a:ext cx="640080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«Questo nome tecnico è scritto giusto?»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412480" y="2057400"/>
            <a:ext cx="3200400" cy="274320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41080" y="224028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La conoscenza tacita diventa scritta, prima che la persona vada via.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Le risposte dell'autore entrano nelle pagine e valgono più della fonte che correggono.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LA VERITÀ PRIMA DI TUTTO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Quattro regole che non si negoziano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Servono a fidarsi delle risposte, anche dopo anni e passaggi di mano.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4068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51460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734056"/>
            <a:ext cx="475488" cy="4754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2331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Le fonti non si toccano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3090672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si aggiungono documenti, non si modificano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172200" y="2103120"/>
            <a:ext cx="544068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51460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73405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89520" y="2331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Ogni fatto ha la sua fonte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7589520" y="3090672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 il minuto esatto della call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4069080"/>
            <a:ext cx="544068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48056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70001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965960" y="42976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Le contraddizioni restano visibili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1965960" y="5056632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non si sceglie al posto dell'autore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6172200" y="4069080"/>
            <a:ext cx="544068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448056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700016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589520" y="42976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L'autore ha l'ultima parola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7589520" y="5056632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le sue precisazioni prevalgono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IL CICLO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wiki che migliora a ogni giro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Quattro operazioni che si ripetono, sempre uguali.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468880" y="3108960"/>
            <a:ext cx="1828800" cy="18288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468880" y="3108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Wiki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514600" y="1911096"/>
            <a:ext cx="1737360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Aggiungi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709160" y="3694176"/>
            <a:ext cx="1737360" cy="658368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Controlla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514600" y="5477256"/>
            <a:ext cx="1737360" cy="658368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Chiedi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20040" y="3694176"/>
            <a:ext cx="1737360" cy="658368"/>
          </a:xfrm>
          <a:prstGeom prst="roundRect">
            <a:avLst>
              <a:gd name="adj" fmla="val 11111"/>
            </a:avLst>
          </a:prstGeom>
          <a:solidFill>
            <a:schemeClr val="accent4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Interroga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251960" y="2240280"/>
            <a:ext cx="1143000" cy="1453896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4251960" y="4352544"/>
            <a:ext cx="1143000" cy="1453896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 flipV="1">
            <a:off x="1371600" y="4352544"/>
            <a:ext cx="1143000" cy="1453896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766560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Aggiungi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423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un documento diventa pagine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30358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Controlla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34472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la wiki si sistema da sola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405993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Chiedi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44714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ciò che manca va all'autore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508406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Interroga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54955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risposte con le fonti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LAVORARE INSIEME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Automatico dove è certo, umano dove serve giudizio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La regola che rende la condivisione sicura per un'azienda.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86000"/>
            <a:ext cx="868680" cy="8686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" y="2494483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20240" y="22860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Automatico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4290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scaricare il lavoro dei colleghi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pubblicare il proprio lavoro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unire le aggiunte all'indice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172200" y="2057400"/>
            <a:ext cx="5440680" cy="3931920"/>
          </a:xfrm>
          <a:prstGeom prst="roundRect">
            <a:avLst>
              <a:gd name="adj" fmla="val 2326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228600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723" y="2494483"/>
            <a:ext cx="451714" cy="45171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43800" y="22860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una persona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6537960" y="34290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due persone sulla stessa nota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modifiche alle note dal sistema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contraddizioni tra fonti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DALLE RISPOSTE AI DOCUMENTI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wiki diventa anche report e schede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Una lavorazione legge la wiki e produce un documento, fermandosi perché tu lo corregga.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237744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Wiki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971800" y="2743200"/>
            <a:ext cx="426720" cy="914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444240" y="2194560"/>
            <a:ext cx="23774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Bozza dell'AI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867400" y="2743200"/>
            <a:ext cx="426720" cy="914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339840" y="2194560"/>
            <a:ext cx="2377440" cy="10972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Tu correggi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763000" y="2743200"/>
            <a:ext cx="426720" cy="914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235440" y="2194560"/>
            <a:ext cx="23774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Documento finale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424160" y="3337560"/>
            <a:ext cx="914" cy="59436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1737360" y="3931920"/>
            <a:ext cx="8686800" cy="914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737360" y="3364992"/>
            <a:ext cx="914" cy="566928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291840" y="40233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torna nella wiki come nuova fonte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Ogni documento sa da quali pagine nasce: se una pagina cambia, Teseo avvisa che il documento è da rifare.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COME SI È EVOLUTO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fasi, ognuna nata dai limiti della precedente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Ottobre 2026.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402336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546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pattern al motore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160520"/>
            <a:ext cx="2788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il grafo, la ricerca, la memoria, le domande all'autore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005072" y="3977640"/>
            <a:ext cx="333756" cy="914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66260" y="1965960"/>
            <a:ext cx="3429000" cy="402336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86300" y="21031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686300" y="31546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singolo al gruppo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686300" y="4160520"/>
            <a:ext cx="2788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archivio condiviso, controlli, collaudi su tre sistemi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822692" y="3977640"/>
            <a:ext cx="333756" cy="914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83880" y="1965960"/>
            <a:ext cx="3429000" cy="402336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21031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31546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Dalle risposte al lavoro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4160520"/>
            <a:ext cx="2788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istruzioni come contratti, documenti prodotti dalla wiki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IL CASO D'USO PRINCIPALE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passaggio di consegne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Il motivo per cui Teseo è nato.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2918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lascia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2651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carica i documenti e risponde alle domande del vault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886200" y="3474720"/>
            <a:ext cx="502920" cy="914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34840" y="2103120"/>
            <a:ext cx="3291840" cy="274320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vault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017520"/>
            <a:ext cx="2651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1"/>
                </a:solidFill>
              </a:rPr>
              <a:t>conserva fatti, fonti, persone e dubbi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772400" y="3474720"/>
            <a:ext cx="502920" cy="914"/>
          </a:xfrm>
          <a:prstGeom prst="line">
            <a:avLst/>
          </a:prstGeom>
          <a:noFill/>
          <a:ln w="444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321040" y="2103120"/>
            <a:ext cx="32918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arriva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3017520"/>
            <a:ext cx="2651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chiede a parole sue e trova risposte verificabili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La consegna non è più un documento che invecchia: è un archivio vivo che continua a crescere.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ALTRI USI IN AZIENDA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Ovunque la conoscenza vive in documenti e persone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Lo stesso meccanismo, adattato al vocabolario di ogni settore.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04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3172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51825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23317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Onboarding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54680"/>
            <a:ext cx="3063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nuovi colleghi autonomi prima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297680" y="2057400"/>
            <a:ext cx="35204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233172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251825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32120" y="23317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IT e help desk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154680"/>
            <a:ext cx="3063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cosa serve e a chi passare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8046720" y="2057400"/>
            <a:ext cx="35204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8321040" y="233172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578" y="251825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81160" y="23317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Progetti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154680"/>
            <a:ext cx="3063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decisioni tracciate alla fonte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548640" y="4069080"/>
            <a:ext cx="35204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1" name="Shape 16"/>
          <p:cNvSpPr/>
          <p:nvPr/>
        </p:nvSpPr>
        <p:spPr>
          <a:xfrm>
            <a:off x="822960" y="434340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98" y="4529938"/>
            <a:ext cx="404165" cy="40416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783080" y="43434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Audit e qualità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5166360"/>
            <a:ext cx="3063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fonti intoccabili e storia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4297680" y="4069080"/>
            <a:ext cx="35204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6" name="Shape 20"/>
          <p:cNvSpPr/>
          <p:nvPr/>
        </p:nvSpPr>
        <p:spPr>
          <a:xfrm>
            <a:off x="4572000" y="434340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8538" y="4529938"/>
            <a:ext cx="404165" cy="40416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532120" y="43434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Consulenza</a:t>
            </a:r>
            <a:endParaRPr lang="en-US" sz="22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0" y="5166360"/>
            <a:ext cx="3063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un archivio per ogni cliente</a:t>
            </a:r>
            <a:endParaRPr lang="en-US" sz="2000" dirty="0"/>
          </a:p>
        </p:txBody>
      </p:sp>
      <p:sp>
        <p:nvSpPr>
          <p:cNvPr id="30" name="Shape 23"/>
          <p:cNvSpPr/>
          <p:nvPr/>
        </p:nvSpPr>
        <p:spPr>
          <a:xfrm>
            <a:off x="8046720" y="4069080"/>
            <a:ext cx="35204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31" name="Shape 24"/>
          <p:cNvSpPr/>
          <p:nvPr/>
        </p:nvSpPr>
        <p:spPr>
          <a:xfrm>
            <a:off x="8321040" y="434340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578" y="4529938"/>
            <a:ext cx="404165" cy="40416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281160" y="43434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Continuità</a:t>
            </a:r>
            <a:endParaRPr lang="en-US" sz="2200" dirty="0"/>
          </a:p>
        </p:txBody>
      </p:sp>
      <p:sp>
        <p:nvSpPr>
          <p:cNvPr id="34" name="Text 26"/>
          <p:cNvSpPr txBox="1"/>
          <p:nvPr/>
        </p:nvSpPr>
        <p:spPr>
          <a:xfrm>
            <a:off x="8321040" y="5166360"/>
            <a:ext cx="3063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chi chiamare se manca qualcuno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400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idee da portare via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01168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231136"/>
            <a:ext cx="475488" cy="4754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108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filo da seguire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6576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DCEAE6"/>
                </a:solidFill>
              </a:rPr>
              <a:t>le pagine collegate guidano l'AI verso le risposte giuste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4389120" y="20116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76" y="2231136"/>
            <a:ext cx="475488" cy="47548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89120" y="3108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archivio che chiede</a:t>
            </a:r>
            <a:endParaRPr lang="en-US" sz="2500" dirty="0"/>
          </a:p>
        </p:txBody>
      </p:sp>
      <p:sp>
        <p:nvSpPr>
          <p:cNvPr id="10" name="Text 6"/>
          <p:cNvSpPr txBox="1"/>
          <p:nvPr/>
        </p:nvSpPr>
        <p:spPr>
          <a:xfrm>
            <a:off x="4389120" y="36576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DCEAE6"/>
                </a:solidFill>
              </a:rPr>
              <a:t>ciò che manca viene chiesto a chi lo sa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8138160" y="201168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223113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38160" y="3108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Fiducia e controllo</a:t>
            </a:r>
            <a:endParaRPr lang="en-US" sz="2500" dirty="0"/>
          </a:p>
        </p:txBody>
      </p:sp>
      <p:sp>
        <p:nvSpPr>
          <p:cNvPr id="14" name="Text 9"/>
          <p:cNvSpPr txBox="1"/>
          <p:nvPr/>
        </p:nvSpPr>
        <p:spPr>
          <a:xfrm>
            <a:off x="8138160" y="36576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DCEAE6"/>
                </a:solidFill>
              </a:rPr>
              <a:t>fonti verificabili, decisioni alle persone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" y="5303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Domande?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seo">
  <a:themeElements>
    <a:clrScheme name="Teseo">
      <a:dk1>
        <a:srgbClr val="16302B"/>
      </a:dk1>
      <a:lt1>
        <a:srgbClr val="FFFFFF"/>
      </a:lt1>
      <a:dk2>
        <a:srgbClr val="1F6F62"/>
      </a:dk2>
      <a:lt2>
        <a:srgbClr val="EEF4F2"/>
      </a:lt2>
      <a:accent1>
        <a:srgbClr val="1F6F62"/>
      </a:accent1>
      <a:accent2>
        <a:srgbClr val="B8262F"/>
      </a:accent2>
      <a:accent3>
        <a:srgbClr val="D9A441"/>
      </a:accent3>
      <a:accent4>
        <a:srgbClr val="3F6E92"/>
      </a:accent4>
      <a:accent5>
        <a:srgbClr val="5E6E6A"/>
      </a:accent5>
      <a:accent6>
        <a:srgbClr val="2E9C8A"/>
      </a:accent6>
      <a:hlink>
        <a:srgbClr val="1F6F62"/>
      </a:hlink>
      <a:folHlink>
        <a:srgbClr val="3F6E92"/>
      </a:folHlink>
    </a:clrScheme>
    <a:fontScheme name="Tese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2026-10-30T21:27:51Z</dcterms:created>
  <dcterms:modified xsi:type="dcterms:W3CDTF">2026-10-30T21:27:51Z</dcterms:modified>
</cp:coreProperties>
</file>